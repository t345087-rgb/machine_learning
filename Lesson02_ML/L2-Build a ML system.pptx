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33"/>
  </p:notesMasterIdLst>
  <p:sldIdLst>
    <p:sldId id="842" r:id="rId2"/>
    <p:sldId id="875" r:id="rId3"/>
    <p:sldId id="862" r:id="rId4"/>
    <p:sldId id="863" r:id="rId5"/>
    <p:sldId id="860" r:id="rId6"/>
    <p:sldId id="864" r:id="rId7"/>
    <p:sldId id="865" r:id="rId8"/>
    <p:sldId id="866" r:id="rId9"/>
    <p:sldId id="867" r:id="rId10"/>
    <p:sldId id="868" r:id="rId11"/>
    <p:sldId id="869" r:id="rId12"/>
    <p:sldId id="874" r:id="rId13"/>
    <p:sldId id="352" r:id="rId14"/>
    <p:sldId id="871" r:id="rId15"/>
    <p:sldId id="845" r:id="rId16"/>
    <p:sldId id="846" r:id="rId17"/>
    <p:sldId id="847" r:id="rId18"/>
    <p:sldId id="848" r:id="rId19"/>
    <p:sldId id="849" r:id="rId20"/>
    <p:sldId id="850" r:id="rId21"/>
    <p:sldId id="851" r:id="rId22"/>
    <p:sldId id="852" r:id="rId23"/>
    <p:sldId id="853" r:id="rId24"/>
    <p:sldId id="854" r:id="rId25"/>
    <p:sldId id="855" r:id="rId26"/>
    <p:sldId id="856" r:id="rId27"/>
    <p:sldId id="857" r:id="rId28"/>
    <p:sldId id="858" r:id="rId29"/>
    <p:sldId id="859" r:id="rId30"/>
    <p:sldId id="861" r:id="rId31"/>
    <p:sldId id="265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6B9CF5-6C63-A6BD-20C6-95E50F8933E0}" v="435" dt="2020-12-16T02:20:06.252"/>
    <p1510:client id="{6804C56D-F37B-8A93-8258-4BF24177998C}" v="17" dt="2020-04-21T01:07:19.938"/>
    <p1510:client id="{911AC38F-A83B-4353-B036-3C5696465EEF}" v="1" dt="2020-12-02T05:18:45.101"/>
    <p1510:client id="{AD9B66CD-B284-1E24-CA77-A2425F0C61A2}" v="1142" dt="2020-12-16T03:27:57.196"/>
    <p1510:client id="{AFFB9C13-CC82-9987-D60B-4B1E09505417}" v="2527" dt="2020-12-16T03:09:43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6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9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0C33AA-2050-F348-9DED-DA8342D6440B}" type="datetimeFigureOut">
              <a:t>9/3/21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F5A40-3990-DB41-BEF6-CED327E6DC50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9410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17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Linh AvantGarde" panose="02000603030000020004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5B95B197-D065-49F7-BD40-A62E7E7465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060" y="378033"/>
            <a:ext cx="2144820" cy="67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60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6842"/>
            <a:ext cx="7886700" cy="795267"/>
          </a:xfrm>
        </p:spPr>
        <p:txBody>
          <a:bodyPr/>
          <a:lstStyle>
            <a:lvl1pPr>
              <a:defRPr sz="4000" b="1" baseline="0">
                <a:latin typeface="Linh AvantGarde" panose="02000603030000020004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94509"/>
            <a:ext cx="7886700" cy="4982442"/>
          </a:xfrm>
        </p:spPr>
        <p:txBody>
          <a:bodyPr/>
          <a:lstStyle>
            <a:lvl1pPr>
              <a:defRPr sz="2800" baseline="0">
                <a:latin typeface="Linh AvantGarde" panose="02000603030000020004"/>
              </a:defRPr>
            </a:lvl1pPr>
            <a:lvl2pPr>
              <a:defRPr baseline="0">
                <a:latin typeface="Linh AvantGarde" panose="02000603030000020004"/>
              </a:defRPr>
            </a:lvl2pPr>
            <a:lvl3pPr>
              <a:defRPr baseline="0">
                <a:latin typeface="Linh AvantGarde" panose="02000603030000020004"/>
              </a:defRPr>
            </a:lvl3pPr>
            <a:lvl4pPr>
              <a:defRPr baseline="0">
                <a:latin typeface="Linh AvantGarde" panose="02000603030000020004"/>
              </a:defRPr>
            </a:lvl4pPr>
            <a:lvl5pPr>
              <a:defRPr baseline="0">
                <a:latin typeface="Linh AvantGarde" panose="02000603030000020004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27207" y="6546406"/>
            <a:ext cx="1143000" cy="320550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144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23966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227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93890" y="6546850"/>
            <a:ext cx="1177059" cy="311150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595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66800"/>
            <a:ext cx="3886200" cy="504825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66800"/>
            <a:ext cx="3886200" cy="504825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29686" y="6527800"/>
            <a:ext cx="1128564" cy="330200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136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93891" y="6492874"/>
            <a:ext cx="11176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81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07745" y="6479020"/>
            <a:ext cx="11176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416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00" y="1781176"/>
            <a:ext cx="2711450" cy="4244974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779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647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88695" y="6492875"/>
            <a:ext cx="11176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031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02550" y="6492875"/>
            <a:ext cx="11176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382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2550" y="6487969"/>
            <a:ext cx="11176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859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88695" y="6492875"/>
            <a:ext cx="1117600" cy="365125"/>
          </a:xfrm>
        </p:spPr>
        <p:txBody>
          <a:bodyPr/>
          <a:lstStyle/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55577"/>
            <a:ext cx="7886700" cy="731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080655"/>
            <a:ext cx="7886700" cy="50058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675" y="6540580"/>
            <a:ext cx="1117600" cy="3174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1F88B7E-86B8-4862-842E-2DB840C1E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810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Linh AvantGarde" panose="02000603030000020004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inh AvantGarde" panose="02000603030000020004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inh AvantGarde" panose="02000603030000020004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inh AvantGarde" panose="02000603030000020004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inh AvantGarde" panose="02000603030000020004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inh AvantGarde" panose="02000603030000020004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user_guide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classes.html#module-sklearn.model_selection" TargetMode="External"/><Relationship Id="rId2" Type="http://schemas.openxmlformats.org/officeDocument/2006/relationships/hyperlink" Target="https://scikit-learn.org/stable/modules/classes.html#module-sklearn.preprocess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22988E-C6B6-4031-90F1-6573C99F0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931" y="2235199"/>
            <a:ext cx="7958138" cy="4462483"/>
          </a:xfrm>
        </p:spPr>
        <p:txBody>
          <a:bodyPr>
            <a:normAutofit/>
          </a:bodyPr>
          <a:lstStyle/>
          <a:p>
            <a:r>
              <a:rPr lang="en-US" sz="5400" dirty="0" err="1"/>
              <a:t>Học máy cơ bản</a:t>
            </a:r>
            <a:br>
              <a:rPr lang="en-US" sz="5400" dirty="0" err="1"/>
            </a:br>
            <a:br>
              <a:rPr lang="en-US" sz="4800" dirty="0" err="1"/>
            </a:br>
            <a:r>
              <a:rPr lang="en-US" sz="4000" b="0" dirty="0" err="1"/>
              <a:t>Quy trình xây dựng hệ thống học máy</a:t>
            </a:r>
            <a:br>
              <a:rPr lang="en-US" sz="4000" b="0" dirty="0" err="1"/>
            </a:br>
            <a:br>
              <a:rPr lang="en-US" sz="4400" b="0" dirty="0" err="1"/>
            </a:br>
            <a:br>
              <a:rPr lang="en-US" sz="4400" b="0" dirty="0" err="1"/>
            </a:br>
            <a:r>
              <a:rPr lang="en-US" sz="3200" dirty="0" err="1"/>
              <a:t>Ngô Văn Linh</a:t>
            </a:r>
            <a:endParaRPr lang="en-US" sz="4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FB227-EC19-4559-BD5E-E26549F6368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26400" y="6483350"/>
            <a:ext cx="11176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ACC793-D879-4A72-AB4C-25BC676A92D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118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pPr eaLnBrk="1" hangingPunct="1"/>
            <a:r>
              <a:rPr lang="vi-VN" sz="4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Nội dung môn học</a:t>
            </a:r>
            <a:endParaRPr lang="en-US" sz="4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B43A47-4E2C-9C4E-BA36-2F434215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91BEA09-2EFE-3740-9DB5-2CD81519655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71600"/>
            <a:ext cx="8305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Linh AvantGarde" panose="02000603030000020004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Linh AvantGarde" panose="02000603030000020004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Linh AvantGarde" panose="02000603030000020004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Linh AvantGarde" panose="02000603030000020004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Linh AvantGarde" panose="02000603030000020004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</a:pPr>
            <a:r>
              <a:rPr lang="en-US" sz="2000"/>
              <a:t>Buổi 1: Giới thiệu về Học máy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 b="1"/>
              <a:t>Buổi 2: Quy trình xây dựng hệ thống học máy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3: Hồi quy tuyến tính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4: Học dựa trên láng giềng gần nhất (KNN)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5: Cây quyết định và Rừng ngẫu nhiên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6: Naïve Bayes 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7: Máy vector hỗ trợ (SVM)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8: Đánh giá hiệu quả của mô hình học máy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9: Phân cụm</a:t>
            </a:r>
          </a:p>
          <a:p>
            <a:pPr marL="285750" indent="-285750">
              <a:lnSpc>
                <a:spcPct val="110000"/>
              </a:lnSpc>
            </a:pPr>
            <a:r>
              <a:rPr lang="en-US" sz="2000"/>
              <a:t>Buổi 10: </a:t>
            </a:r>
            <a:r>
              <a:rPr lang="vi-VN" sz="2000"/>
              <a:t>Kiểm tra giữa kỳ và trình bày ý tưởng làm dự án cuối kỳ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885365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A8089-89B0-4C37-BCC3-08953D108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lục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F2F88-E0CF-4E01-A2B9-79F9EDF27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Scikit-learn, </a:t>
            </a:r>
            <a:r>
              <a:rPr lang="en-US" dirty="0" err="1"/>
              <a:t>Keras</a:t>
            </a:r>
            <a:r>
              <a:rPr lang="en-US" dirty="0"/>
              <a:t>/</a:t>
            </a:r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,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phá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r>
              <a:rPr lang="en-US" dirty="0"/>
              <a:t>3. Thu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56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0690-CEDF-417F-925B-AE854BC9B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1. </a:t>
            </a:r>
            <a:r>
              <a:rPr lang="en-US" sz="3600" dirty="0" err="1"/>
              <a:t>Giới</a:t>
            </a:r>
            <a:r>
              <a:rPr lang="en-US" sz="3600" dirty="0"/>
              <a:t> </a:t>
            </a:r>
            <a:r>
              <a:rPr lang="en-US" sz="3600" dirty="0" err="1"/>
              <a:t>thiệu</a:t>
            </a:r>
            <a:r>
              <a:rPr lang="en-US" sz="3600" dirty="0"/>
              <a:t> </a:t>
            </a:r>
            <a:r>
              <a:rPr lang="en-US" sz="3600" dirty="0" err="1"/>
              <a:t>về</a:t>
            </a:r>
            <a:r>
              <a:rPr lang="en-US" sz="3600" dirty="0"/>
              <a:t> Scikit-learn, </a:t>
            </a:r>
            <a:r>
              <a:rPr lang="en-US" sz="3600" dirty="0" err="1"/>
              <a:t>Keras</a:t>
            </a:r>
            <a:r>
              <a:rPr lang="en-US" sz="3600" dirty="0"/>
              <a:t>/</a:t>
            </a:r>
            <a:r>
              <a:rPr lang="en-US" sz="3600" dirty="0" err="1"/>
              <a:t>Pytorch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F8E16-940D-43A4-AA09-641177962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1" y="9209906"/>
            <a:ext cx="4391059" cy="289887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E94339-9239-4E78-82C0-F0CCB49C7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7284" y="1202097"/>
            <a:ext cx="1885731" cy="1885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5A48DD85-02C7-4F4A-9382-AF39CFF5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934" y="1504391"/>
            <a:ext cx="3181927" cy="1352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D2952B8-CF3F-4DA2-A5B9-E9A4FD901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37" y="1314458"/>
            <a:ext cx="2598274" cy="173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7813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 err="1">
                <a:latin typeface="Linh AvantGarde"/>
                <a:ea typeface="等线 Light"/>
              </a:rPr>
              <a:t>Giới</a:t>
            </a:r>
            <a:r>
              <a:rPr lang="en-US" altLang="zh-CN" sz="3000" b="1" dirty="0">
                <a:latin typeface="Linh AvantGarde"/>
                <a:ea typeface="等线 Light"/>
              </a:rPr>
              <a:t> </a:t>
            </a:r>
            <a:r>
              <a:rPr lang="en-US" altLang="zh-CN" sz="3000" b="1" dirty="0" err="1">
                <a:latin typeface="Linh AvantGarde"/>
                <a:ea typeface="等线 Light"/>
              </a:rPr>
              <a:t>thiệu</a:t>
            </a:r>
            <a:r>
              <a:rPr lang="en-US" altLang="zh-CN" sz="3000" b="1" dirty="0">
                <a:latin typeface="Linh AvantGarde"/>
                <a:ea typeface="等线 Light"/>
              </a:rPr>
              <a:t> </a:t>
            </a:r>
            <a:r>
              <a:rPr lang="en-US" altLang="zh-CN" sz="3000" b="1" dirty="0" err="1">
                <a:latin typeface="Linh AvantGarde"/>
                <a:ea typeface="等线 Light"/>
              </a:rPr>
              <a:t>thư</a:t>
            </a:r>
            <a:r>
              <a:rPr lang="en-US" altLang="zh-CN" sz="3000" b="1" dirty="0">
                <a:latin typeface="Linh AvantGarde"/>
                <a:ea typeface="等线 Light"/>
              </a:rPr>
              <a:t> </a:t>
            </a:r>
            <a:r>
              <a:rPr lang="en-US" altLang="zh-CN" sz="3000" b="1" dirty="0" err="1">
                <a:latin typeface="Linh AvantGarde"/>
                <a:ea typeface="等线 Light"/>
              </a:rPr>
              <a:t>viện</a:t>
            </a:r>
            <a:r>
              <a:rPr lang="en-US" altLang="zh-CN" sz="3000" b="1" dirty="0">
                <a:latin typeface="Linh AvantGarde"/>
                <a:ea typeface="等线 Light"/>
              </a:rPr>
              <a:t> Scikit-Learn</a:t>
            </a:r>
            <a:endParaRPr lang="en-US" altLang="zh-CN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  <a:ea typeface="+mn-lt"/>
              </a:rPr>
              <a:t>Scikit-learn</a:t>
            </a:r>
            <a:r>
              <a:rPr lang="en-US" dirty="0">
                <a:latin typeface="Arial" panose="020B0604020202020204" pitchFamily="34" charset="0"/>
                <a:ea typeface="+mn-lt"/>
              </a:rPr>
              <a:t>: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Là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thư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viện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mạnh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mẽ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về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các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thuật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toán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học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máy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và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khai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phá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dữ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liệu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bằng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ngôn</a:t>
            </a:r>
            <a:r>
              <a:rPr lang="en-US" dirty="0">
                <a:latin typeface="Arial" panose="020B0604020202020204" pitchFamily="34" charset="0"/>
                <a:ea typeface="+mn-lt"/>
              </a:rPr>
              <a:t> </a:t>
            </a:r>
            <a:r>
              <a:rPr lang="en-US" dirty="0" err="1">
                <a:latin typeface="Arial" panose="020B0604020202020204" pitchFamily="34" charset="0"/>
                <a:ea typeface="+mn-lt"/>
              </a:rPr>
              <a:t>ngữ</a:t>
            </a:r>
            <a:r>
              <a:rPr lang="en-US" dirty="0">
                <a:latin typeface="Arial" panose="020B0604020202020204" pitchFamily="34" charset="0"/>
                <a:ea typeface="+mn-lt"/>
              </a:rPr>
              <a:t> Python</a:t>
            </a:r>
          </a:p>
          <a:p>
            <a:r>
              <a:rPr lang="vi-VN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Bắt nguồn từ một dự án của Google, Sklearn được xây dựng chủ yếu dựa trên Python, trên nền tảng của một số thư viện khác: Numpy, Scipy, Matplotlib, IPython, Sympy,</a:t>
            </a:r>
          </a:p>
          <a:p>
            <a:endParaRPr lang="en-US" dirty="0">
              <a:ea typeface="等线"/>
              <a:cs typeface="Calibri"/>
            </a:endParaRPr>
          </a:p>
          <a:p>
            <a:pPr marL="228600" lvl="1" indent="0">
              <a:buNone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endParaRPr lang="en-US" altLang="zh-CN" dirty="0">
              <a:ea typeface="等线"/>
              <a:cs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15ACCE0-051F-4682-A840-5280893A5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843214"/>
            <a:ext cx="2298700" cy="1414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2C57232E-7077-4129-8FDE-E4398313A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100" y="3843214"/>
            <a:ext cx="1627188" cy="162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D6BB9D7-9C30-4B51-A339-D9B03E4C1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843" y="4038564"/>
            <a:ext cx="2592388" cy="1023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47F79958-2C7C-47A3-B953-EE082EECA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4" y="5105009"/>
            <a:ext cx="1404938" cy="140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7643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 err="1">
                <a:latin typeface="Linh AvantGarde"/>
                <a:ea typeface="等线 Light"/>
              </a:rPr>
              <a:t>Giới</a:t>
            </a:r>
            <a:r>
              <a:rPr lang="en-US" altLang="zh-CN" sz="3000" b="1" dirty="0">
                <a:latin typeface="Linh AvantGarde"/>
                <a:ea typeface="等线 Light"/>
              </a:rPr>
              <a:t> </a:t>
            </a:r>
            <a:r>
              <a:rPr lang="en-US" altLang="zh-CN" sz="3000" b="1" dirty="0" err="1">
                <a:latin typeface="Linh AvantGarde"/>
                <a:ea typeface="等线 Light"/>
              </a:rPr>
              <a:t>thiệu</a:t>
            </a:r>
            <a:r>
              <a:rPr lang="en-US" altLang="zh-CN" sz="3000" b="1" dirty="0">
                <a:latin typeface="Linh AvantGarde"/>
                <a:ea typeface="等线 Light"/>
              </a:rPr>
              <a:t> </a:t>
            </a:r>
            <a:r>
              <a:rPr lang="en-US" altLang="zh-CN" sz="3000" b="1" dirty="0" err="1">
                <a:latin typeface="Linh AvantGarde"/>
                <a:ea typeface="等线 Light"/>
              </a:rPr>
              <a:t>thư</a:t>
            </a:r>
            <a:r>
              <a:rPr lang="en-US" altLang="zh-CN" sz="3000" b="1" dirty="0">
                <a:latin typeface="Linh AvantGarde"/>
                <a:ea typeface="等线 Light"/>
              </a:rPr>
              <a:t> </a:t>
            </a:r>
            <a:r>
              <a:rPr lang="en-US" altLang="zh-CN" sz="3000" b="1" dirty="0" err="1">
                <a:latin typeface="Linh AvantGarde"/>
                <a:ea typeface="等线 Light"/>
              </a:rPr>
              <a:t>viện</a:t>
            </a:r>
            <a:r>
              <a:rPr lang="en-US" altLang="zh-CN" sz="3000" b="1" dirty="0">
                <a:latin typeface="Linh AvantGarde"/>
                <a:ea typeface="等线 Light"/>
              </a:rPr>
              <a:t> Scikit-Learn</a:t>
            </a:r>
            <a:endParaRPr lang="en-US" altLang="zh-CN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Nhóm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thuật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gói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  <a:sym typeface="Wingdings" panose="05000000000000000000" pitchFamily="2" charset="2"/>
              </a:rPr>
              <a:t>(</a:t>
            </a:r>
            <a:r>
              <a:rPr lang="en-US" dirty="0">
                <a:ea typeface="+mn-lt"/>
                <a:cs typeface="+mn-lt"/>
                <a:sym typeface="Wingdings" panose="05000000000000000000" pitchFamily="2" charset="2"/>
                <a:hlinkClick r:id="rId2"/>
              </a:rPr>
              <a:t>https://scikit-learn.org/stable/user_guide.html</a:t>
            </a:r>
            <a:r>
              <a:rPr lang="en-US" dirty="0">
                <a:ea typeface="+mn-lt"/>
                <a:cs typeface="+mn-lt"/>
                <a:sym typeface="Wingdings" panose="05000000000000000000" pitchFamily="2" charset="2"/>
              </a:rPr>
              <a:t>):</a:t>
            </a:r>
          </a:p>
          <a:p>
            <a:pPr lvl="1"/>
            <a:r>
              <a:rPr lang="en-US" dirty="0">
                <a:ea typeface="+mn-lt"/>
                <a:cs typeface="+mn-lt"/>
                <a:sym typeface="Wingdings" panose="05000000000000000000" pitchFamily="2" charset="2"/>
              </a:rPr>
              <a:t>Supervised learning</a:t>
            </a:r>
          </a:p>
          <a:p>
            <a:pPr lvl="1"/>
            <a:r>
              <a:rPr lang="en-US" dirty="0">
                <a:ea typeface="+mn-lt"/>
                <a:cs typeface="+mn-lt"/>
                <a:sym typeface="Wingdings" panose="05000000000000000000" pitchFamily="2" charset="2"/>
              </a:rPr>
              <a:t>Unsupervised learning</a:t>
            </a:r>
          </a:p>
          <a:p>
            <a:pPr lvl="1"/>
            <a:r>
              <a:rPr lang="en-US" dirty="0">
                <a:ea typeface="+mn-lt"/>
                <a:cs typeface="+mn-lt"/>
                <a:sym typeface="Wingdings" panose="05000000000000000000" pitchFamily="2" charset="2"/>
              </a:rPr>
              <a:t>Model selection and evaluation</a:t>
            </a:r>
          </a:p>
          <a:p>
            <a:pPr lvl="1"/>
            <a:r>
              <a:rPr lang="en-US" dirty="0">
                <a:ea typeface="+mn-lt"/>
                <a:cs typeface="+mn-lt"/>
                <a:sym typeface="Wingdings" panose="05000000000000000000" pitchFamily="2" charset="2"/>
              </a:rPr>
              <a:t>Datasets</a:t>
            </a:r>
          </a:p>
          <a:p>
            <a:pPr lvl="1"/>
            <a:r>
              <a:rPr lang="en-US" dirty="0">
                <a:ea typeface="+mn-lt"/>
                <a:cs typeface="+mn-lt"/>
                <a:sym typeface="Wingdings" panose="05000000000000000000" pitchFamily="2" charset="2"/>
              </a:rPr>
              <a:t>Dataset transformations</a:t>
            </a:r>
          </a:p>
          <a:p>
            <a:pPr lvl="1"/>
            <a:r>
              <a:rPr lang="en-US" dirty="0">
                <a:ea typeface="+mn-lt"/>
                <a:cs typeface="+mn-lt"/>
                <a:sym typeface="Wingdings" panose="05000000000000000000" pitchFamily="2" charset="2"/>
              </a:rPr>
              <a:t>Visualization</a:t>
            </a:r>
          </a:p>
          <a:p>
            <a:pPr lvl="1"/>
            <a:r>
              <a:rPr lang="en-US" dirty="0">
                <a:ea typeface="+mn-lt"/>
                <a:cs typeface="+mn-lt"/>
                <a:sym typeface="Wingdings" panose="05000000000000000000" pitchFamily="2" charset="2"/>
              </a:rPr>
              <a:t>…</a:t>
            </a:r>
            <a:endParaRPr lang="en-US" dirty="0">
              <a:cs typeface="Calibri"/>
            </a:endParaRPr>
          </a:p>
          <a:p>
            <a:pPr lvl="2"/>
            <a:endParaRPr lang="en-US" dirty="0">
              <a:ea typeface="等线"/>
              <a:cs typeface="Calibri"/>
            </a:endParaRPr>
          </a:p>
          <a:p>
            <a:pPr lvl="1"/>
            <a:endParaRPr lang="en-US" dirty="0">
              <a:ea typeface="等线"/>
              <a:cs typeface="Calibri"/>
            </a:endParaRPr>
          </a:p>
          <a:p>
            <a:pPr marL="228600" lvl="1" indent="0">
              <a:buNone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endParaRPr lang="en-US" altLang="zh-CN" dirty="0"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6117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868FB-6C3E-4ED9-BF70-137FC378E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800" b="0" i="0" u="none" strike="noStrike" dirty="0" err="1">
                <a:solidFill>
                  <a:srgbClr val="0B5394"/>
                </a:solidFill>
                <a:effectLst/>
                <a:latin typeface="Arial" panose="020B0604020202020204" pitchFamily="34" charset="0"/>
              </a:rPr>
              <a:t>Cài</a:t>
            </a:r>
            <a:r>
              <a:rPr lang="en-US" sz="2800" b="0" i="0" u="none" strike="noStrike" dirty="0">
                <a:solidFill>
                  <a:srgbClr val="0B5394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B5394"/>
                </a:solidFill>
                <a:effectLst/>
                <a:latin typeface="Arial" panose="020B0604020202020204" pitchFamily="34" charset="0"/>
              </a:rPr>
              <a:t>đặt</a:t>
            </a:r>
            <a:r>
              <a:rPr lang="en-US" sz="2800" b="0" i="0" u="none" strike="noStrike" dirty="0">
                <a:solidFill>
                  <a:srgbClr val="0B5394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B5394"/>
                </a:solidFill>
                <a:effectLst/>
                <a:latin typeface="Arial" panose="020B0604020202020204" pitchFamily="34" charset="0"/>
              </a:rPr>
              <a:t>Sklearn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F9446-E4EB-4C81-BF5A-1D4926745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vi-VN" b="0" i="0" u="none" strike="noStrike" dirty="0">
                <a:solidFill>
                  <a:srgbClr val="595959"/>
                </a:solidFill>
                <a:effectLst/>
                <a:latin typeface="+mn-lt"/>
              </a:rPr>
              <a:t>Trước khi cài Sklearn, cần cài trước các thư viện sau:</a:t>
            </a:r>
            <a:endParaRPr lang="vi-VN" b="0" dirty="0">
              <a:effectLst/>
              <a:latin typeface="+mn-lt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b="0" i="0" u="none" strike="noStrike" dirty="0">
                <a:solidFill>
                  <a:srgbClr val="595959"/>
                </a:solidFill>
                <a:effectLst/>
                <a:latin typeface="+mn-lt"/>
              </a:rPr>
              <a:t>Python (&gt;= 2.6 or &gt;= 3.3),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b="0" i="0" u="none" strike="noStrike" dirty="0">
                <a:solidFill>
                  <a:srgbClr val="595959"/>
                </a:solidFill>
                <a:effectLst/>
                <a:latin typeface="+mn-lt"/>
              </a:rPr>
              <a:t>NumPy (&gt;= 1.6.1),</a:t>
            </a:r>
          </a:p>
          <a:p>
            <a:pPr rtl="0" fontAlgn="base"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vi-VN" b="0" i="0" u="none" strike="noStrike" dirty="0">
                <a:solidFill>
                  <a:srgbClr val="595959"/>
                </a:solidFill>
                <a:effectLst/>
                <a:latin typeface="+mn-lt"/>
              </a:rPr>
              <a:t>SciPy (&gt;= 0.9).</a:t>
            </a:r>
          </a:p>
          <a:p>
            <a:pPr rtl="0">
              <a:spcBef>
                <a:spcPts val="0"/>
              </a:spcBef>
              <a:spcAft>
                <a:spcPts val="900"/>
              </a:spcAft>
            </a:pPr>
            <a:r>
              <a:rPr lang="vi-VN" b="0" i="0" u="none" strike="noStrike" dirty="0">
                <a:solidFill>
                  <a:srgbClr val="595959"/>
                </a:solidFill>
                <a:effectLst/>
                <a:latin typeface="+mn-lt"/>
              </a:rPr>
              <a:t>Sau đó, có thể dùng pip/ conda gọi câu lệnh cài đặt sklearn:</a:t>
            </a:r>
            <a:endParaRPr lang="vi-VN" b="0" dirty="0">
              <a:effectLst/>
              <a:latin typeface="+mn-lt"/>
            </a:endParaRPr>
          </a:p>
          <a:p>
            <a:pPr marL="457200" rtl="0">
              <a:spcBef>
                <a:spcPts val="0"/>
              </a:spcBef>
              <a:spcAft>
                <a:spcPts val="900"/>
              </a:spcAft>
            </a:pPr>
            <a:r>
              <a:rPr lang="vi-VN" b="0" i="1" u="none" strike="noStrike" dirty="0">
                <a:solidFill>
                  <a:srgbClr val="595959"/>
                </a:solidFill>
                <a:effectLst/>
                <a:latin typeface="+mn-lt"/>
              </a:rPr>
              <a:t>!pip install -U scikit-learn</a:t>
            </a:r>
            <a:endParaRPr lang="vi-VN" b="0" dirty="0">
              <a:effectLst/>
              <a:latin typeface="+mn-lt"/>
            </a:endParaRPr>
          </a:p>
          <a:p>
            <a:pPr marL="457200" rtl="0">
              <a:spcBef>
                <a:spcPts val="0"/>
              </a:spcBef>
              <a:spcAft>
                <a:spcPts val="900"/>
              </a:spcAft>
            </a:pPr>
            <a:r>
              <a:rPr lang="vi-VN" b="0" i="1" u="none" strike="noStrike" dirty="0">
                <a:solidFill>
                  <a:srgbClr val="595959"/>
                </a:solidFill>
                <a:effectLst/>
                <a:latin typeface="+mn-lt"/>
              </a:rPr>
              <a:t>!conda install scikit-learn</a:t>
            </a:r>
            <a:endParaRPr lang="vi-VN" b="0" dirty="0">
              <a:effectLst/>
              <a:latin typeface="+mn-lt"/>
            </a:endParaRPr>
          </a:p>
          <a:p>
            <a:pPr rtl="0">
              <a:spcBef>
                <a:spcPts val="0"/>
              </a:spcBef>
              <a:spcAft>
                <a:spcPts val="900"/>
              </a:spcAft>
            </a:pPr>
            <a:r>
              <a:rPr lang="vi-VN" b="0" i="0" u="none" strike="noStrike" dirty="0">
                <a:solidFill>
                  <a:srgbClr val="595959"/>
                </a:solidFill>
                <a:effectLst/>
                <a:latin typeface="+mn-lt"/>
              </a:rPr>
              <a:t>!!!Khi sử dụng, ta luôn cần lệnh </a:t>
            </a:r>
            <a:r>
              <a:rPr lang="vi-VN" b="1" i="1" u="none" strike="noStrike" dirty="0">
                <a:solidFill>
                  <a:srgbClr val="595959"/>
                </a:solidFill>
                <a:effectLst/>
                <a:latin typeface="+mn-lt"/>
              </a:rPr>
              <a:t>import sklearn</a:t>
            </a:r>
            <a:r>
              <a:rPr lang="vi-VN" b="0" i="0" u="none" strike="noStrike" dirty="0">
                <a:solidFill>
                  <a:srgbClr val="595959"/>
                </a:solidFill>
                <a:effectLst/>
                <a:latin typeface="+mn-lt"/>
              </a:rPr>
              <a:t>...</a:t>
            </a:r>
            <a:endParaRPr lang="vi-VN" b="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2093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F0050-44D5-4D40-BF3B-323FEE58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E4A9E-A746-4AFF-AB3E-C6DB197D0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25" y="1094509"/>
            <a:ext cx="7886700" cy="4982442"/>
          </a:xfrm>
        </p:spPr>
        <p:txBody>
          <a:bodyPr/>
          <a:lstStyle/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: </a:t>
            </a:r>
            <a:r>
              <a:rPr lang="en-US" sz="1800" b="1" i="0" u="none" strike="noStrike" dirty="0" err="1">
                <a:solidFill>
                  <a:srgbClr val="2878A2"/>
                </a:solidFill>
                <a:effectLst/>
                <a:latin typeface="Courier New" panose="02070309020205020404" pitchFamily="49" charset="0"/>
                <a:hlinkClick r:id="rId2"/>
              </a:rPr>
              <a:t>sklearn.preprocessing</a:t>
            </a:r>
            <a:endParaRPr lang="en-US" sz="1800" b="1" i="0" u="none" strike="noStrike" dirty="0">
              <a:solidFill>
                <a:srgbClr val="2878A2"/>
              </a:solidFill>
              <a:effectLst/>
              <a:latin typeface="Courier New" panose="02070309020205020404" pitchFamily="49" charset="0"/>
            </a:endParaRPr>
          </a:p>
          <a:p>
            <a:endParaRPr lang="en-US" sz="1800" b="1" dirty="0">
              <a:solidFill>
                <a:srgbClr val="2878A2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212529"/>
              </a:solidFill>
              <a:latin typeface="Roboto" panose="020B0604020202020204" pitchFamily="2" charset="0"/>
            </a:endParaRPr>
          </a:p>
          <a:p>
            <a:pPr marL="0" indent="0">
              <a:buNone/>
            </a:pPr>
            <a:endParaRPr lang="en-US" b="0" dirty="0">
              <a:effectLst/>
            </a:endParaRPr>
          </a:p>
          <a:p>
            <a:r>
              <a:rPr lang="en-US" dirty="0"/>
              <a:t>Chia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train/test: </a:t>
            </a:r>
            <a:r>
              <a:rPr lang="en-US" sz="1800" b="1" i="0" u="none" strike="noStrike" dirty="0" err="1">
                <a:solidFill>
                  <a:srgbClr val="2878A2"/>
                </a:solidFill>
                <a:effectLst/>
                <a:latin typeface="Courier New" panose="02070309020205020404" pitchFamily="49" charset="0"/>
                <a:hlinkClick r:id="rId3"/>
              </a:rPr>
              <a:t>sklearn.model_selection</a:t>
            </a:r>
            <a:endParaRPr lang="en-US" sz="1800" b="1" i="0" u="none" strike="noStrike" dirty="0">
              <a:solidFill>
                <a:srgbClr val="2878A2"/>
              </a:solidFill>
              <a:effectLst/>
              <a:latin typeface="Courier New" panose="02070309020205020404" pitchFamily="49" charset="0"/>
            </a:endParaRPr>
          </a:p>
          <a:p>
            <a:endParaRPr lang="en-US" sz="1800" b="1" dirty="0">
              <a:solidFill>
                <a:srgbClr val="2878A2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3F61D90-DB32-4336-A0E3-BE516020E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22" y="1743941"/>
            <a:ext cx="7293553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0EB6BA8-8045-40AD-85D7-B6C06CE8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822" y="3585730"/>
            <a:ext cx="7293553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0606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F0050-44D5-4D40-BF3B-323FEE58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E4A9E-A746-4AFF-AB3E-C6DB197D0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25" y="1094509"/>
            <a:ext cx="7886700" cy="4982442"/>
          </a:xfrm>
        </p:spPr>
        <p:txBody>
          <a:bodyPr>
            <a:normAutofit/>
          </a:bodyPr>
          <a:lstStyle/>
          <a:p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: </a:t>
            </a:r>
            <a:r>
              <a:rPr lang="en-US" sz="1800" b="1" dirty="0" err="1">
                <a:solidFill>
                  <a:srgbClr val="2878A2"/>
                </a:solidFill>
                <a:latin typeface="Courier New" panose="02070309020205020404" pitchFamily="49" charset="0"/>
              </a:rPr>
              <a:t>sklearn.linear_model</a:t>
            </a:r>
            <a:endParaRPr lang="en-US" sz="1800" b="1" i="0" u="none" strike="noStrike" dirty="0">
              <a:solidFill>
                <a:srgbClr val="2878A2"/>
              </a:solidFill>
              <a:effectLst/>
              <a:latin typeface="Courier New" panose="02070309020205020404" pitchFamily="49" charset="0"/>
            </a:endParaRPr>
          </a:p>
          <a:p>
            <a:endParaRPr lang="en-US" sz="1800" b="1" dirty="0">
              <a:solidFill>
                <a:srgbClr val="2878A2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212529"/>
              </a:solidFill>
              <a:latin typeface="Roboto" panose="020B0604020202020204" pitchFamily="2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212529"/>
              </a:solidFill>
              <a:latin typeface="Roboto" panose="020B0604020202020204" pitchFamily="2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212529"/>
              </a:solidFill>
              <a:latin typeface="Roboto" panose="020B0604020202020204" pitchFamily="2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212529"/>
              </a:solidFill>
              <a:latin typeface="Roboto" panose="020B0604020202020204" pitchFamily="2" charset="0"/>
            </a:endParaRPr>
          </a:p>
          <a:p>
            <a:pPr marL="0" indent="0">
              <a:buNone/>
            </a:pPr>
            <a:endParaRPr lang="en-US" b="0" dirty="0">
              <a:effectLst/>
            </a:endParaRPr>
          </a:p>
          <a:p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:</a:t>
            </a:r>
          </a:p>
          <a:p>
            <a:endParaRPr lang="en-US" sz="1800" b="1" dirty="0">
              <a:solidFill>
                <a:srgbClr val="2878A2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91B3614-FD8F-4718-AAA0-655097682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1709305"/>
            <a:ext cx="768667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69A4D6AD-705D-49CE-8C58-8DD29C80D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4619626"/>
            <a:ext cx="7686675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111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F0050-44D5-4D40-BF3B-323FEE58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E4A9E-A746-4AFF-AB3E-C6DB197D0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625" y="1094509"/>
            <a:ext cx="7886700" cy="4982442"/>
          </a:xfrm>
        </p:spPr>
        <p:txBody>
          <a:bodyPr>
            <a:normAutofit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SVM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Rừng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endParaRPr lang="en-US" sz="1800" b="1" i="0" u="none" strike="noStrike" dirty="0">
              <a:solidFill>
                <a:srgbClr val="2878A2"/>
              </a:solidFill>
              <a:effectLst/>
              <a:latin typeface="Courier New" panose="02070309020205020404" pitchFamily="49" charset="0"/>
            </a:endParaRPr>
          </a:p>
          <a:p>
            <a:endParaRPr lang="en-US" sz="1800" b="1" dirty="0">
              <a:solidFill>
                <a:srgbClr val="2878A2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212529"/>
              </a:solidFill>
              <a:latin typeface="Roboto" panose="020B0604020202020204" pitchFamily="2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212529"/>
              </a:solidFill>
              <a:latin typeface="Roboto" panose="020B0604020202020204" pitchFamily="2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212529"/>
              </a:solidFill>
              <a:latin typeface="Roboto" panose="020B0604020202020204" pitchFamily="2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212529"/>
              </a:solidFill>
              <a:latin typeface="Roboto" panose="020B0604020202020204" pitchFamily="2" charset="0"/>
            </a:endParaRPr>
          </a:p>
          <a:p>
            <a:pPr marL="0" indent="0">
              <a:buNone/>
            </a:pPr>
            <a:endParaRPr lang="en-US" b="0" dirty="0">
              <a:effectLst/>
            </a:endParaRPr>
          </a:p>
          <a:p>
            <a:pPr marL="0" indent="0">
              <a:buNone/>
            </a:pPr>
            <a:endParaRPr lang="en-US" sz="1800" b="1" dirty="0">
              <a:solidFill>
                <a:srgbClr val="2878A2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75A4409-016E-4F91-AB07-98CC5A038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1771651"/>
            <a:ext cx="7343775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225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5598-401E-4074-A63B-ED70E586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Keras</a:t>
            </a:r>
            <a:r>
              <a:rPr lang="en-US" dirty="0"/>
              <a:t>/</a:t>
            </a:r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4C7BE-C94A-4143-8EAC-A0C7917C8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595959"/>
                </a:solidFill>
                <a:latin typeface="Arial" panose="020B0604020202020204" pitchFamily="34" charset="0"/>
              </a:rPr>
              <a:t>T</a:t>
            </a:r>
            <a:r>
              <a:rPr lang="vi-VN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hư viện hỗ trợ lập trình giải bài toán học sâu: Keras, Pytorch, Caffee</a:t>
            </a:r>
            <a:r>
              <a:rPr lang="en-US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TensorFlow</a:t>
            </a:r>
            <a:r>
              <a:rPr lang="en-US" sz="1800" dirty="0">
                <a:solidFill>
                  <a:srgbClr val="595959"/>
                </a:solidFill>
                <a:latin typeface="Arial" panose="020B0604020202020204" pitchFamily="34" charset="0"/>
              </a:rPr>
              <a:t>, etc.</a:t>
            </a:r>
            <a:endParaRPr lang="en-US" sz="1800" b="0" i="0" u="none" strike="noStrike" dirty="0">
              <a:solidFill>
                <a:srgbClr val="595959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18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⇒ Giúp việc lập trình cho bài toán học sâu trở nên đơn giản và hiệu quả hơn.</a:t>
            </a:r>
          </a:p>
          <a:p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sâu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013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25674-F5B0-B540-A92A-DF90EC914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46842"/>
            <a:ext cx="8194963" cy="795267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Arial" panose="020B0604020202020204" pitchFamily="34" charset="0"/>
              </a:rPr>
              <a:t>2. </a:t>
            </a:r>
            <a:r>
              <a:rPr lang="en-US" sz="3600" dirty="0" err="1">
                <a:latin typeface="Arial" panose="020B0604020202020204" pitchFamily="34" charset="0"/>
              </a:rPr>
              <a:t>Quy</a:t>
            </a:r>
            <a:r>
              <a:rPr lang="en-US" sz="3600" dirty="0">
                <a:latin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</a:rPr>
              <a:t>trình</a:t>
            </a:r>
            <a:r>
              <a:rPr lang="en-US" sz="3600" dirty="0">
                <a:latin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</a:rPr>
              <a:t>xây</a:t>
            </a:r>
            <a:r>
              <a:rPr lang="en-US" sz="3600" dirty="0">
                <a:latin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</a:rPr>
              <a:t>dựng</a:t>
            </a:r>
            <a:r>
              <a:rPr lang="en-US" sz="3600" dirty="0">
                <a:latin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</a:rPr>
              <a:t>hệ</a:t>
            </a:r>
            <a:r>
              <a:rPr lang="en-US" sz="3600" dirty="0">
                <a:latin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</a:rPr>
              <a:t>thống</a:t>
            </a:r>
            <a:r>
              <a:rPr lang="en-US" sz="3600" dirty="0">
                <a:latin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</a:rPr>
              <a:t>học</a:t>
            </a:r>
            <a:r>
              <a:rPr lang="en-US" sz="3600" dirty="0">
                <a:latin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</a:rPr>
              <a:t>máy</a:t>
            </a:r>
            <a:r>
              <a:rPr lang="en-US" sz="3600" dirty="0">
                <a:latin typeface="Arial" panose="020B0604020202020204" pitchFamily="34" charset="0"/>
              </a:rPr>
              <a:t>, </a:t>
            </a:r>
            <a:r>
              <a:rPr lang="en-US" sz="3600" dirty="0" err="1">
                <a:latin typeface="Arial" panose="020B0604020202020204" pitchFamily="34" charset="0"/>
              </a:rPr>
              <a:t>khai</a:t>
            </a:r>
            <a:r>
              <a:rPr lang="en-US" sz="3600" dirty="0">
                <a:latin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</a:rPr>
              <a:t>phá</a:t>
            </a:r>
            <a:r>
              <a:rPr lang="en-US" sz="3600" dirty="0">
                <a:latin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</a:rPr>
              <a:t>dữ</a:t>
            </a:r>
            <a:r>
              <a:rPr lang="en-US" sz="3600" dirty="0">
                <a:latin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</a:rPr>
              <a:t>liệu</a:t>
            </a:r>
            <a:endParaRPr sz="3600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4F495-C611-0C4B-95D2-FDA78135F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88B7E-86B8-4862-842E-2DB840C1EC76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1203614" y="1861849"/>
            <a:ext cx="4343400" cy="3505200"/>
          </a:xfrm>
          <a:prstGeom prst="triangle">
            <a:avLst>
              <a:gd name="adj" fmla="val 50000"/>
            </a:avLst>
          </a:prstGeom>
          <a:gradFill flip="none" rotWithShape="1">
            <a:gsLst>
              <a:gs pos="0">
                <a:srgbClr val="008000"/>
              </a:gs>
              <a:gs pos="100000">
                <a:srgbClr val="FFFFFF"/>
              </a:gs>
            </a:gsLst>
            <a:path path="circle">
              <a:fillToRect r="100000" b="100000"/>
            </a:path>
            <a:tileRect l="-100000" t="-100000"/>
          </a:gra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TW" altLang="en-US" sz="2800">
              <a:ea typeface="PMingLiU" charset="0"/>
              <a:cs typeface="PMingLiU" charset="0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422814" y="2623849"/>
            <a:ext cx="1984375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altLang="zh-TW" sz="2800" dirty="0">
                <a:ea typeface="PMingLiU" charset="0"/>
                <a:cs typeface="PMingLiU" charset="0"/>
              </a:rPr>
              <a:t>Meta-</a:t>
            </a:r>
          </a:p>
          <a:p>
            <a:pPr algn="ctr" eaLnBrk="1" hangingPunct="1"/>
            <a:r>
              <a:rPr lang="en-GB" altLang="zh-TW" sz="2800" dirty="0">
                <a:ea typeface="PMingLiU" charset="0"/>
                <a:cs typeface="PMingLiU" charset="0"/>
              </a:rPr>
              <a:t>Knowledge</a:t>
            </a:r>
          </a:p>
          <a:p>
            <a:pPr algn="ctr" eaLnBrk="1" hangingPunct="1">
              <a:spcBef>
                <a:spcPts val="1200"/>
              </a:spcBef>
            </a:pPr>
            <a:r>
              <a:rPr lang="en-GB" altLang="zh-TW" sz="2800" dirty="0">
                <a:ea typeface="PMingLiU" charset="0"/>
                <a:cs typeface="PMingLiU" charset="0"/>
              </a:rPr>
              <a:t>Knowledge</a:t>
            </a:r>
          </a:p>
          <a:p>
            <a:pPr algn="ctr" eaLnBrk="1" hangingPunct="1">
              <a:spcBef>
                <a:spcPts val="1200"/>
              </a:spcBef>
            </a:pPr>
            <a:r>
              <a:rPr lang="en-GB" altLang="zh-TW" sz="2800" dirty="0">
                <a:ea typeface="PMingLiU" charset="0"/>
                <a:cs typeface="PMingLiU" charset="0"/>
              </a:rPr>
              <a:t>Information</a:t>
            </a:r>
          </a:p>
          <a:p>
            <a:pPr algn="ctr" eaLnBrk="1" hangingPunct="1">
              <a:spcBef>
                <a:spcPts val="1200"/>
              </a:spcBef>
            </a:pPr>
            <a:r>
              <a:rPr lang="en-GB" altLang="zh-TW" sz="2800" dirty="0">
                <a:ea typeface="PMingLiU" charset="0"/>
                <a:cs typeface="PMingLiU" charset="0"/>
              </a:rPr>
              <a:t>Data</a:t>
            </a: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1508414" y="4833649"/>
            <a:ext cx="3695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1965614" y="4224049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2270414" y="3690649"/>
            <a:ext cx="2238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>
            <a:spLocks noChangeArrowheads="1"/>
          </p:cNvSpPr>
          <p:nvPr/>
        </p:nvSpPr>
        <p:spPr bwMode="auto">
          <a:xfrm>
            <a:off x="5623214" y="5138449"/>
            <a:ext cx="2325970" cy="860015"/>
          </a:xfrm>
          <a:prstGeom prst="wedgeRoundRectCallout">
            <a:avLst>
              <a:gd name="adj1" fmla="val -64986"/>
              <a:gd name="adj2" fmla="val -68944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Kích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thước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lớn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,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giá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trị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thấp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,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thường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không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rõ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ý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nghĩa</a:t>
            </a:r>
            <a:endParaRPr lang="en-GB" altLang="zh-TW" sz="1600" dirty="0">
              <a:latin typeface="Arial" panose="020B0604020202020204" pitchFamily="34" charset="0"/>
              <a:ea typeface="PMingLiU" charset="0"/>
              <a:cs typeface="Arial" panose="020B0604020202020204" pitchFamily="34" charset="0"/>
            </a:endParaRPr>
          </a:p>
        </p:txBody>
      </p:sp>
      <p:sp>
        <p:nvSpPr>
          <p:cNvPr id="11" name="AutoShape 11"/>
          <p:cNvSpPr>
            <a:spLocks noChangeArrowheads="1"/>
          </p:cNvSpPr>
          <p:nvPr/>
        </p:nvSpPr>
        <p:spPr bwMode="auto">
          <a:xfrm>
            <a:off x="5318414" y="3897818"/>
            <a:ext cx="2438400" cy="838200"/>
          </a:xfrm>
          <a:prstGeom prst="wedgeRoundRectCallout">
            <a:avLst>
              <a:gd name="adj1" fmla="val -68241"/>
              <a:gd name="adj2" fmla="val 24009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Kích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thước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nhỏ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hơn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,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giá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trị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cao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hơn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với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một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số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ý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nghĩa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nhất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định</a:t>
            </a:r>
            <a:endParaRPr lang="en-GB" altLang="zh-TW" sz="1600" dirty="0">
              <a:latin typeface="Arial" panose="020B0604020202020204" pitchFamily="34" charset="0"/>
              <a:ea typeface="PMingLiU" charset="0"/>
              <a:cs typeface="Arial" panose="020B0604020202020204" pitchFamily="34" charset="0"/>
            </a:endParaRPr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4937414" y="2602922"/>
            <a:ext cx="2499706" cy="892465"/>
          </a:xfrm>
          <a:prstGeom prst="wedgeRoundRectCallout">
            <a:avLst>
              <a:gd name="adj1" fmla="val -71176"/>
              <a:gd name="adj2" fmla="val 111588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Hiểu biết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về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một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lĩnh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vực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nào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đó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,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có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thể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dùng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để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giải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quyết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các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vấn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đề</a:t>
            </a:r>
            <a:endParaRPr lang="en-GB" altLang="zh-TW" sz="1600" dirty="0">
              <a:latin typeface="Arial" panose="020B0604020202020204" pitchFamily="34" charset="0"/>
              <a:ea typeface="PMingLiU" charset="0"/>
              <a:cs typeface="Arial" panose="020B0604020202020204" pitchFamily="34" charset="0"/>
            </a:endParaRPr>
          </a:p>
        </p:txBody>
      </p:sp>
      <p:sp>
        <p:nvSpPr>
          <p:cNvPr id="13" name="AutoShape 13"/>
          <p:cNvSpPr>
            <a:spLocks noChangeArrowheads="1"/>
          </p:cNvSpPr>
          <p:nvPr/>
        </p:nvSpPr>
        <p:spPr bwMode="auto">
          <a:xfrm>
            <a:off x="4846926" y="1364384"/>
            <a:ext cx="2590194" cy="816263"/>
          </a:xfrm>
          <a:prstGeom prst="wedgeRoundRectCallout">
            <a:avLst>
              <a:gd name="adj1" fmla="val -93352"/>
              <a:gd name="adj2" fmla="val 160745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Tri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thức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về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các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tri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thức</a:t>
            </a:r>
            <a:b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</a:b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VD: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khi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nào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áp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dụng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,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áp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dụng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như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thế</a:t>
            </a:r>
            <a:r>
              <a:rPr lang="en-GB" altLang="zh-TW" sz="1600" dirty="0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 </a:t>
            </a:r>
            <a:r>
              <a:rPr lang="en-GB" altLang="zh-TW" sz="1600" dirty="0" err="1">
                <a:latin typeface="Arial" panose="020B0604020202020204" pitchFamily="34" charset="0"/>
                <a:ea typeface="PMingLiU" charset="0"/>
                <a:cs typeface="Arial" panose="020B0604020202020204" pitchFamily="34" charset="0"/>
              </a:rPr>
              <a:t>nào</a:t>
            </a:r>
            <a:endParaRPr lang="en-GB" altLang="zh-TW" sz="1600" dirty="0">
              <a:latin typeface="Arial" panose="020B0604020202020204" pitchFamily="34" charset="0"/>
              <a:ea typeface="PMingLiU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75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457199" y="457200"/>
            <a:ext cx="8458201" cy="762000"/>
          </a:xfrm>
        </p:spPr>
        <p:txBody>
          <a:bodyPr>
            <a:normAutofit/>
          </a:bodyPr>
          <a:lstStyle/>
          <a:p>
            <a:r>
              <a:rPr lang="en-US" sz="3000" dirty="0"/>
              <a:t>Quy trình thực hiện: </a:t>
            </a:r>
            <a:r>
              <a:rPr lang="en-US" sz="3000" dirty="0">
                <a:solidFill>
                  <a:srgbClr val="0000FF"/>
                </a:solidFill>
              </a:rPr>
              <a:t>hướng sản phẩm</a:t>
            </a:r>
            <a:endParaRPr lang="en-US" sz="3000" dirty="0"/>
          </a:p>
        </p:txBody>
      </p:sp>
      <p:sp>
        <p:nvSpPr>
          <p:cNvPr id="10" name="TextBox 9"/>
          <p:cNvSpPr txBox="1"/>
          <p:nvPr/>
        </p:nvSpPr>
        <p:spPr>
          <a:xfrm>
            <a:off x="2982933" y="6554400"/>
            <a:ext cx="2615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(http://www.theta.co.nz/)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1BB5B-21D7-0F40-BB5B-E81B7922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13</a:t>
            </a:fld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793BD92-EDD7-454C-80F7-0930839CF8EB}"/>
              </a:ext>
            </a:extLst>
          </p:cNvPr>
          <p:cNvGrpSpPr/>
          <p:nvPr/>
        </p:nvGrpSpPr>
        <p:grpSpPr>
          <a:xfrm>
            <a:off x="298450" y="1261049"/>
            <a:ext cx="8576030" cy="5269467"/>
            <a:chOff x="298450" y="1485899"/>
            <a:chExt cx="8576030" cy="5269467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DAA1DA3-727F-1B4B-9BC2-D63D67CE5C68}"/>
                </a:ext>
              </a:extLst>
            </p:cNvPr>
            <p:cNvGrpSpPr/>
            <p:nvPr/>
          </p:nvGrpSpPr>
          <p:grpSpPr>
            <a:xfrm>
              <a:off x="298450" y="1485899"/>
              <a:ext cx="8576030" cy="5269467"/>
              <a:chOff x="298450" y="1485899"/>
              <a:chExt cx="8576030" cy="5269467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154A844-3BDC-5E4F-AC47-CDECC17F25B1}"/>
                  </a:ext>
                </a:extLst>
              </p:cNvPr>
              <p:cNvSpPr/>
              <p:nvPr/>
            </p:nvSpPr>
            <p:spPr>
              <a:xfrm>
                <a:off x="2203450" y="1485899"/>
                <a:ext cx="1905000" cy="609599"/>
              </a:xfrm>
              <a:prstGeom prst="rect">
                <a:avLst/>
              </a:prstGeom>
              <a:effectLst/>
              <a:scene3d>
                <a:camera prst="orthographicFront">
                  <a:rot lat="0" lon="0" rev="0"/>
                </a:camera>
                <a:lightRig rig="twoPt" dir="r">
                  <a:rot lat="0" lon="0" rev="6000000"/>
                </a:lightRig>
              </a:scene3d>
              <a:sp3d prstMaterial="matte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b="1"/>
                  <a:t>Business understanding</a:t>
                </a:r>
                <a:endParaRPr b="1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6204CCF-2296-164B-BD49-7C3A765BC71D}"/>
                  </a:ext>
                </a:extLst>
              </p:cNvPr>
              <p:cNvSpPr/>
              <p:nvPr/>
            </p:nvSpPr>
            <p:spPr>
              <a:xfrm>
                <a:off x="5060950" y="1485900"/>
                <a:ext cx="1905000" cy="609599"/>
              </a:xfrm>
              <a:prstGeom prst="rect">
                <a:avLst/>
              </a:prstGeom>
              <a:effectLst/>
              <a:scene3d>
                <a:camera prst="orthographicFront">
                  <a:rot lat="0" lon="0" rev="0"/>
                </a:camera>
                <a:lightRig rig="twoPt" dir="r">
                  <a:rot lat="0" lon="0" rev="6000000"/>
                </a:lightRig>
              </a:scene3d>
              <a:sp3d prstMaterial="matte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b="1"/>
                  <a:t>Analytic approach</a:t>
                </a:r>
                <a:endParaRPr b="1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D326714-3148-ED45-8250-B091974C2642}"/>
                  </a:ext>
                </a:extLst>
              </p:cNvPr>
              <p:cNvSpPr/>
              <p:nvPr/>
            </p:nvSpPr>
            <p:spPr>
              <a:xfrm>
                <a:off x="6969480" y="2671384"/>
                <a:ext cx="1905000" cy="609599"/>
              </a:xfrm>
              <a:prstGeom prst="rect">
                <a:avLst/>
              </a:prstGeom>
              <a:effectLst/>
              <a:scene3d>
                <a:camera prst="orthographicFront">
                  <a:rot lat="0" lon="0" rev="0"/>
                </a:camera>
                <a:lightRig rig="twoPt" dir="r">
                  <a:rot lat="0" lon="0" rev="6000000"/>
                </a:lightRig>
              </a:scene3d>
              <a:sp3d prstMaterial="matte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b="1"/>
                  <a:t>Data requirements</a:t>
                </a:r>
                <a:endParaRPr b="1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5D64E8E-5C05-E24F-BF5D-DD4D457EB379}"/>
                  </a:ext>
                </a:extLst>
              </p:cNvPr>
              <p:cNvSpPr/>
              <p:nvPr/>
            </p:nvSpPr>
            <p:spPr>
              <a:xfrm>
                <a:off x="6969480" y="3904494"/>
                <a:ext cx="1905000" cy="609599"/>
              </a:xfrm>
              <a:prstGeom prst="rect">
                <a:avLst/>
              </a:prstGeom>
              <a:effectLst/>
              <a:scene3d>
                <a:camera prst="orthographicFront">
                  <a:rot lat="0" lon="0" rev="0"/>
                </a:camera>
                <a:lightRig rig="twoPt" dir="r">
                  <a:rot lat="0" lon="0" rev="6000000"/>
                </a:lightRig>
              </a:scene3d>
              <a:sp3d prstMaterial="matte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b="1"/>
                  <a:t>Data </a:t>
                </a:r>
                <a:br>
                  <a:rPr lang="vi-VN" b="1"/>
                </a:br>
                <a:r>
                  <a:rPr lang="vi-VN" b="1"/>
                  <a:t>collection</a:t>
                </a:r>
                <a:endParaRPr b="1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67406A1-787A-9247-8EE0-C6EC2F86176A}"/>
                  </a:ext>
                </a:extLst>
              </p:cNvPr>
              <p:cNvSpPr/>
              <p:nvPr/>
            </p:nvSpPr>
            <p:spPr>
              <a:xfrm>
                <a:off x="6969480" y="5137604"/>
                <a:ext cx="1905000" cy="609599"/>
              </a:xfrm>
              <a:prstGeom prst="rect">
                <a:avLst/>
              </a:prstGeom>
              <a:effectLst/>
              <a:scene3d>
                <a:camera prst="orthographicFront">
                  <a:rot lat="0" lon="0" rev="0"/>
                </a:camera>
                <a:lightRig rig="twoPt" dir="r">
                  <a:rot lat="0" lon="0" rev="6000000"/>
                </a:lightRig>
              </a:scene3d>
              <a:sp3d prstMaterial="matte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b="1"/>
                  <a:t>Data understanding</a:t>
                </a:r>
                <a:endParaRPr b="1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60E860B-1C5E-1A43-AA3B-72728F28FDFA}"/>
                  </a:ext>
                </a:extLst>
              </p:cNvPr>
              <p:cNvSpPr/>
              <p:nvPr/>
            </p:nvSpPr>
            <p:spPr>
              <a:xfrm>
                <a:off x="5060950" y="6145767"/>
                <a:ext cx="1905000" cy="609599"/>
              </a:xfrm>
              <a:prstGeom prst="rect">
                <a:avLst/>
              </a:prstGeom>
              <a:effectLst/>
              <a:scene3d>
                <a:camera prst="orthographicFront">
                  <a:rot lat="0" lon="0" rev="0"/>
                </a:camera>
                <a:lightRig rig="twoPt" dir="r">
                  <a:rot lat="0" lon="0" rev="6000000"/>
                </a:lightRig>
              </a:scene3d>
              <a:sp3d prstMaterial="matte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b="1"/>
                  <a:t>Data preparation</a:t>
                </a:r>
                <a:endParaRPr b="1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75B509B-A154-574E-902A-0A67AFF36D6D}"/>
                  </a:ext>
                </a:extLst>
              </p:cNvPr>
              <p:cNvSpPr/>
              <p:nvPr/>
            </p:nvSpPr>
            <p:spPr>
              <a:xfrm>
                <a:off x="2216150" y="6145766"/>
                <a:ext cx="1905000" cy="609599"/>
              </a:xfrm>
              <a:prstGeom prst="rect">
                <a:avLst/>
              </a:prstGeom>
              <a:effectLst/>
              <a:scene3d>
                <a:camera prst="orthographicFront">
                  <a:rot lat="0" lon="0" rev="0"/>
                </a:camera>
                <a:lightRig rig="twoPt" dir="r">
                  <a:rot lat="0" lon="0" rev="6000000"/>
                </a:lightRig>
              </a:scene3d>
              <a:sp3d prstMaterial="matte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b="1"/>
                  <a:t>Modeling</a:t>
                </a:r>
                <a:endParaRPr b="1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7A4F00DF-546E-4A47-8B52-92AFF7DF8144}"/>
                  </a:ext>
                </a:extLst>
              </p:cNvPr>
              <p:cNvSpPr/>
              <p:nvPr/>
            </p:nvSpPr>
            <p:spPr>
              <a:xfrm>
                <a:off x="311150" y="5133220"/>
                <a:ext cx="1905000" cy="609599"/>
              </a:xfrm>
              <a:prstGeom prst="rect">
                <a:avLst/>
              </a:prstGeom>
              <a:effectLst/>
              <a:scene3d>
                <a:camera prst="orthographicFront">
                  <a:rot lat="0" lon="0" rev="0"/>
                </a:camera>
                <a:lightRig rig="twoPt" dir="r">
                  <a:rot lat="0" lon="0" rev="6000000"/>
                </a:lightRig>
              </a:scene3d>
              <a:sp3d prstMaterial="matte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b="1"/>
                  <a:t>Evaluation</a:t>
                </a:r>
                <a:endParaRPr b="1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AB9BB9E-6EA1-8147-A5BD-9B7C46BDD46F}"/>
                  </a:ext>
                </a:extLst>
              </p:cNvPr>
              <p:cNvSpPr/>
              <p:nvPr/>
            </p:nvSpPr>
            <p:spPr>
              <a:xfrm>
                <a:off x="298450" y="3894365"/>
                <a:ext cx="1905000" cy="609599"/>
              </a:xfrm>
              <a:prstGeom prst="rect">
                <a:avLst/>
              </a:prstGeom>
              <a:effectLst/>
              <a:scene3d>
                <a:camera prst="orthographicFront">
                  <a:rot lat="0" lon="0" rev="0"/>
                </a:camera>
                <a:lightRig rig="twoPt" dir="r">
                  <a:rot lat="0" lon="0" rev="6000000"/>
                </a:lightRig>
              </a:scene3d>
              <a:sp3d prstMaterial="matte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b="1"/>
                  <a:t>Deployment</a:t>
                </a:r>
                <a:endParaRPr b="1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15B1D09-FB6A-814D-91E0-DEF389013EB1}"/>
                  </a:ext>
                </a:extLst>
              </p:cNvPr>
              <p:cNvSpPr/>
              <p:nvPr/>
            </p:nvSpPr>
            <p:spPr>
              <a:xfrm>
                <a:off x="311150" y="2666999"/>
                <a:ext cx="1905000" cy="609599"/>
              </a:xfrm>
              <a:prstGeom prst="rect">
                <a:avLst/>
              </a:prstGeom>
              <a:effectLst/>
              <a:scene3d>
                <a:camera prst="orthographicFront">
                  <a:rot lat="0" lon="0" rev="0"/>
                </a:camera>
                <a:lightRig rig="twoPt" dir="r">
                  <a:rot lat="0" lon="0" rev="6000000"/>
                </a:lightRig>
              </a:scene3d>
              <a:sp3d prstMaterial="matte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b="1"/>
                  <a:t>Feedback</a:t>
                </a:r>
                <a:endParaRPr b="1"/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8400E5EB-12F9-4743-BEC8-D793E785EB89}"/>
                  </a:ext>
                </a:extLst>
              </p:cNvPr>
              <p:cNvCxnSpPr>
                <a:cxnSpLocks/>
                <a:stCxn id="39" idx="3"/>
                <a:endCxn id="40" idx="1"/>
              </p:cNvCxnSpPr>
              <p:nvPr/>
            </p:nvCxnSpPr>
            <p:spPr>
              <a:xfrm>
                <a:off x="4108450" y="1790699"/>
                <a:ext cx="952500" cy="1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Elbow Connector 51">
                <a:extLst>
                  <a:ext uri="{FF2B5EF4-FFF2-40B4-BE49-F238E27FC236}">
                    <a16:creationId xmlns:a16="http://schemas.microsoft.com/office/drawing/2014/main" id="{4F66A95D-9F61-CD49-8F08-C58765D6D59A}"/>
                  </a:ext>
                </a:extLst>
              </p:cNvPr>
              <p:cNvCxnSpPr>
                <a:endCxn id="42" idx="0"/>
              </p:cNvCxnSpPr>
              <p:nvPr/>
            </p:nvCxnSpPr>
            <p:spPr>
              <a:xfrm>
                <a:off x="6965950" y="1790699"/>
                <a:ext cx="956030" cy="880685"/>
              </a:xfrm>
              <a:prstGeom prst="bentConnector2">
                <a:avLst/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Elbow Connector 52">
                <a:extLst>
                  <a:ext uri="{FF2B5EF4-FFF2-40B4-BE49-F238E27FC236}">
                    <a16:creationId xmlns:a16="http://schemas.microsoft.com/office/drawing/2014/main" id="{B421F66F-F3E6-4D4D-B692-A14992626FF5}"/>
                  </a:ext>
                </a:extLst>
              </p:cNvPr>
              <p:cNvCxnSpPr>
                <a:endCxn id="43" idx="1"/>
              </p:cNvCxnSpPr>
              <p:nvPr/>
            </p:nvCxnSpPr>
            <p:spPr>
              <a:xfrm rot="5400000" flipH="1" flipV="1">
                <a:off x="5526404" y="4702690"/>
                <a:ext cx="1936472" cy="949680"/>
              </a:xfrm>
              <a:prstGeom prst="bentConnector2">
                <a:avLst/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Elbow Connector 53">
                <a:extLst>
                  <a:ext uri="{FF2B5EF4-FFF2-40B4-BE49-F238E27FC236}">
                    <a16:creationId xmlns:a16="http://schemas.microsoft.com/office/drawing/2014/main" id="{36B67AB7-CBD7-4F4C-BBC9-9081E50F97F0}"/>
                  </a:ext>
                </a:extLst>
              </p:cNvPr>
              <p:cNvCxnSpPr>
                <a:endCxn id="46" idx="3"/>
              </p:cNvCxnSpPr>
              <p:nvPr/>
            </p:nvCxnSpPr>
            <p:spPr>
              <a:xfrm rot="10800000" flipV="1">
                <a:off x="6965950" y="5742819"/>
                <a:ext cx="956030" cy="707748"/>
              </a:xfrm>
              <a:prstGeom prst="bentConnector3">
                <a:avLst>
                  <a:gd name="adj1" fmla="val 849"/>
                </a:avLst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Elbow Connector 54">
                <a:extLst>
                  <a:ext uri="{FF2B5EF4-FFF2-40B4-BE49-F238E27FC236}">
                    <a16:creationId xmlns:a16="http://schemas.microsoft.com/office/drawing/2014/main" id="{46F1406F-F9D6-B04A-8FCE-57D89A5DCB18}"/>
                  </a:ext>
                </a:extLst>
              </p:cNvPr>
              <p:cNvCxnSpPr>
                <a:cxnSpLocks/>
                <a:stCxn id="50" idx="3"/>
                <a:endCxn id="47" idx="0"/>
              </p:cNvCxnSpPr>
              <p:nvPr/>
            </p:nvCxnSpPr>
            <p:spPr>
              <a:xfrm>
                <a:off x="2216150" y="2971799"/>
                <a:ext cx="952500" cy="3173967"/>
              </a:xfrm>
              <a:prstGeom prst="bentConnector2">
                <a:avLst/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Elbow Connector 55">
                <a:extLst>
                  <a:ext uri="{FF2B5EF4-FFF2-40B4-BE49-F238E27FC236}">
                    <a16:creationId xmlns:a16="http://schemas.microsoft.com/office/drawing/2014/main" id="{40A7A844-7D7B-D348-B60F-D8A13C37B2D1}"/>
                  </a:ext>
                </a:extLst>
              </p:cNvPr>
              <p:cNvCxnSpPr>
                <a:cxnSpLocks/>
                <a:stCxn id="48" idx="2"/>
                <a:endCxn id="47" idx="1"/>
              </p:cNvCxnSpPr>
              <p:nvPr/>
            </p:nvCxnSpPr>
            <p:spPr>
              <a:xfrm rot="16200000" flipH="1">
                <a:off x="1386027" y="5620442"/>
                <a:ext cx="707747" cy="952500"/>
              </a:xfrm>
              <a:prstGeom prst="bentConnector2">
                <a:avLst/>
              </a:prstGeom>
              <a:ln>
                <a:headEnd type="stealth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Elbow Connector 56">
                <a:extLst>
                  <a:ext uri="{FF2B5EF4-FFF2-40B4-BE49-F238E27FC236}">
                    <a16:creationId xmlns:a16="http://schemas.microsoft.com/office/drawing/2014/main" id="{87086956-0708-5846-B380-E171AFC03D9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501776" y="5742816"/>
                <a:ext cx="708024" cy="511614"/>
              </a:xfrm>
              <a:prstGeom prst="bentConnector3">
                <a:avLst>
                  <a:gd name="adj1" fmla="val 90479"/>
                </a:avLst>
              </a:prstGeom>
              <a:ln>
                <a:headEnd type="stealth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Elbow Connector 57">
                <a:extLst>
                  <a:ext uri="{FF2B5EF4-FFF2-40B4-BE49-F238E27FC236}">
                    <a16:creationId xmlns:a16="http://schemas.microsoft.com/office/drawing/2014/main" id="{3B502C03-3DBD-1B41-9FCE-FF0F931984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72300" y="5744515"/>
                <a:ext cx="676987" cy="509915"/>
              </a:xfrm>
              <a:prstGeom prst="bentConnector3">
                <a:avLst>
                  <a:gd name="adj1" fmla="val 100082"/>
                </a:avLst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04F1F16B-7E9D-8D45-8A6C-501989B71CC2}"/>
                  </a:ext>
                </a:extLst>
              </p:cNvPr>
              <p:cNvCxnSpPr/>
              <p:nvPr/>
            </p:nvCxnSpPr>
            <p:spPr>
              <a:xfrm>
                <a:off x="7921980" y="3276598"/>
                <a:ext cx="0" cy="617767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FDCAC793-BFDC-CB46-8FBD-1CD9959AA67B}"/>
                  </a:ext>
                </a:extLst>
              </p:cNvPr>
              <p:cNvCxnSpPr/>
              <p:nvPr/>
            </p:nvCxnSpPr>
            <p:spPr>
              <a:xfrm>
                <a:off x="7921980" y="4515453"/>
                <a:ext cx="0" cy="617767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B0DE558A-C7B2-AF46-917D-1C431D38213B}"/>
                  </a:ext>
                </a:extLst>
              </p:cNvPr>
              <p:cNvCxnSpPr>
                <a:endCxn id="50" idx="2"/>
              </p:cNvCxnSpPr>
              <p:nvPr/>
            </p:nvCxnSpPr>
            <p:spPr>
              <a:xfrm flipV="1">
                <a:off x="1250950" y="3276598"/>
                <a:ext cx="12700" cy="617767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DF56104E-0018-3F4D-8D45-5948BE398738}"/>
                  </a:ext>
                </a:extLst>
              </p:cNvPr>
              <p:cNvCxnSpPr/>
              <p:nvPr/>
            </p:nvCxnSpPr>
            <p:spPr>
              <a:xfrm flipV="1">
                <a:off x="1238250" y="4503964"/>
                <a:ext cx="12700" cy="617767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81DB1F62-0416-1949-9D2D-3C8E3C817B55}"/>
                  </a:ext>
                </a:extLst>
              </p:cNvPr>
              <p:cNvCxnSpPr/>
              <p:nvPr/>
            </p:nvCxnSpPr>
            <p:spPr>
              <a:xfrm flipV="1">
                <a:off x="7649287" y="4510689"/>
                <a:ext cx="12700" cy="617767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512F3031-16A8-514E-8605-140E04ECA864}"/>
                  </a:ext>
                </a:extLst>
              </p:cNvPr>
              <p:cNvCxnSpPr/>
              <p:nvPr/>
            </p:nvCxnSpPr>
            <p:spPr>
              <a:xfrm flipV="1">
                <a:off x="7661987" y="3256401"/>
                <a:ext cx="12700" cy="617767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D12E2603-96E4-6F4C-9C9E-6A163738FD59}"/>
                  </a:ext>
                </a:extLst>
              </p:cNvPr>
              <p:cNvCxnSpPr>
                <a:cxnSpLocks/>
                <a:stCxn id="46" idx="1"/>
                <a:endCxn id="47" idx="3"/>
              </p:cNvCxnSpPr>
              <p:nvPr/>
            </p:nvCxnSpPr>
            <p:spPr>
              <a:xfrm flipH="1" flipV="1">
                <a:off x="4121150" y="6450566"/>
                <a:ext cx="939800" cy="1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0A8B69E1-D568-7C40-A14D-A89221B338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133849" y="6254430"/>
                <a:ext cx="939800" cy="1"/>
              </a:xfrm>
              <a:prstGeom prst="straightConnector1">
                <a:avLst/>
              </a:prstGeom>
              <a:ln>
                <a:headEnd type="stealth" w="lg" len="lg"/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" name="Elbow Connector 36">
              <a:extLst>
                <a:ext uri="{FF2B5EF4-FFF2-40B4-BE49-F238E27FC236}">
                  <a16:creationId xmlns:a16="http://schemas.microsoft.com/office/drawing/2014/main" id="{CE138490-8031-C34A-A37E-8B1FAB0ED0D7}"/>
                </a:ext>
              </a:extLst>
            </p:cNvPr>
            <p:cNvCxnSpPr>
              <a:cxnSpLocks/>
              <a:stCxn id="40" idx="2"/>
            </p:cNvCxnSpPr>
            <p:nvPr/>
          </p:nvCxnSpPr>
          <p:spPr>
            <a:xfrm rot="16200000" flipH="1">
              <a:off x="6055504" y="2053444"/>
              <a:ext cx="868392" cy="952501"/>
            </a:xfrm>
            <a:prstGeom prst="bentConnector2">
              <a:avLst/>
            </a:prstGeom>
            <a:ln>
              <a:headEnd type="stealth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3576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A2CD-EBBF-448C-8E76-BD3888593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F099C-CE84-424B-B7A6-CC8CE3350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ea typeface="等线"/>
                <a:cs typeface="Calibri"/>
              </a:rPr>
              <a:t>Đặt</a:t>
            </a:r>
            <a:r>
              <a:rPr lang="zh-CN" altLang="en-US" dirty="0">
                <a:ea typeface="等线"/>
                <a:cs typeface="Calibri"/>
              </a:rPr>
              <a:t> vấn đề</a:t>
            </a:r>
          </a:p>
          <a:p>
            <a:r>
              <a:rPr lang="en-US" altLang="zh-CN" dirty="0" err="1">
                <a:ea typeface="等线"/>
                <a:cs typeface="Calibri"/>
              </a:rPr>
              <a:t>Làm</a:t>
            </a:r>
            <a:r>
              <a:rPr lang="en-US" altLang="zh-CN" dirty="0">
                <a:ea typeface="等线"/>
                <a:cs typeface="Calibri"/>
              </a:rPr>
              <a:t> </a:t>
            </a:r>
            <a:r>
              <a:rPr lang="en-US" altLang="zh-CN" dirty="0" err="1">
                <a:ea typeface="等线"/>
                <a:cs typeface="Calibri"/>
              </a:rPr>
              <a:t>sạch</a:t>
            </a:r>
            <a:r>
              <a:rPr lang="en-US" altLang="zh-CN" dirty="0">
                <a:ea typeface="等线"/>
                <a:cs typeface="Calibri"/>
              </a:rPr>
              <a:t> </a:t>
            </a:r>
            <a:r>
              <a:rPr lang="en-US" altLang="zh-CN" dirty="0" err="1">
                <a:ea typeface="等线"/>
                <a:cs typeface="Calibri"/>
              </a:rPr>
              <a:t>dữ</a:t>
            </a:r>
            <a:r>
              <a:rPr lang="en-US" altLang="zh-CN" dirty="0">
                <a:ea typeface="等线"/>
                <a:cs typeface="Calibri"/>
              </a:rPr>
              <a:t> </a:t>
            </a:r>
            <a:r>
              <a:rPr lang="en-US" altLang="zh-CN" dirty="0" err="1">
                <a:ea typeface="等线"/>
                <a:cs typeface="Calibri"/>
              </a:rPr>
              <a:t>liệu</a:t>
            </a:r>
            <a:endParaRPr lang="en-US" altLang="zh-CN" dirty="0">
              <a:ea typeface="等线"/>
              <a:cs typeface="Calibri"/>
            </a:endParaRPr>
          </a:p>
          <a:p>
            <a:r>
              <a:rPr lang="zh-CN" altLang="en-US" dirty="0">
                <a:ea typeface="等线"/>
                <a:cs typeface="Calibri"/>
              </a:rPr>
              <a:t>Tích hợp </a:t>
            </a:r>
          </a:p>
          <a:p>
            <a:r>
              <a:rPr lang="zh-CN" altLang="en-US" dirty="0">
                <a:ea typeface="等线"/>
                <a:cs typeface="Calibri"/>
              </a:rPr>
              <a:t>Giảm chiều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423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latin typeface="Linh AvantGarde"/>
                <a:ea typeface="等线 Light"/>
              </a:rPr>
              <a:t>ĐẶT VẤN ĐỀ</a:t>
            </a:r>
            <a:endParaRPr lang="en-US" altLang="zh-CN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>
                <a:solidFill>
                  <a:srgbClr val="00B0F0"/>
                </a:solidFill>
                <a:ea typeface="+mn-lt"/>
                <a:cs typeface="+mn-lt"/>
              </a:rPr>
              <a:t>Khai phá dữ liệu</a:t>
            </a:r>
            <a:r>
              <a:rPr lang="zh-CN">
                <a:ea typeface="+mn-lt"/>
                <a:cs typeface="+mn-lt"/>
              </a:rPr>
              <a:t> là một qúa</a:t>
            </a:r>
            <a:r>
              <a:rPr lang="zh-CN" altLang="en-US">
                <a:ea typeface="+mn-lt"/>
                <a:cs typeface="+mn-lt"/>
              </a:rPr>
              <a:t> </a:t>
            </a:r>
            <a:r>
              <a:rPr lang="zh-CN">
                <a:ea typeface="+mn-lt"/>
                <a:cs typeface="+mn-lt"/>
              </a:rPr>
              <a:t>trình </a:t>
            </a:r>
            <a:r>
              <a:rPr lang="zh-CN">
                <a:solidFill>
                  <a:srgbClr val="FF0000"/>
                </a:solidFill>
                <a:ea typeface="+mn-lt"/>
                <a:cs typeface="+mn-lt"/>
              </a:rPr>
              <a:t>phân tích dữ liệu</a:t>
            </a:r>
            <a:r>
              <a:rPr lang="zh-CN">
                <a:ea typeface="+mn-lt"/>
                <a:cs typeface="+mn-lt"/>
              </a:rPr>
              <a:t> theo nhiều khía cạnh và tổng hợp nó lại để có được thông tin hữu ích hay </a:t>
            </a:r>
            <a:r>
              <a:rPr lang="zh-CN">
                <a:solidFill>
                  <a:srgbClr val="FF0000"/>
                </a:solidFill>
                <a:ea typeface="+mn-lt"/>
                <a:cs typeface="+mn-lt"/>
              </a:rPr>
              <a:t>tri thức</a:t>
            </a:r>
            <a:r>
              <a:rPr lang="zh-CN">
                <a:ea typeface="+mn-lt"/>
                <a:cs typeface="+mn-lt"/>
              </a:rPr>
              <a:t>.</a:t>
            </a:r>
            <a:endParaRPr lang="zh-CN"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378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Linh "/>
                <a:ea typeface="+mj-lt"/>
                <a:cs typeface="+mj-lt"/>
              </a:rPr>
              <a:t>ĐẶT VẤN ĐỀ</a:t>
            </a:r>
            <a:endParaRPr lang="en-US" dirty="0">
              <a:latin typeface="Linh "/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>
                <a:ea typeface="+mn-lt"/>
                <a:cs typeface="+mn-lt"/>
              </a:rPr>
              <a:t>Các</a:t>
            </a:r>
            <a:r>
              <a:rPr lang="zh-CN" altLang="en-US" dirty="0">
                <a:ea typeface="+mn-lt"/>
                <a:cs typeface="+mn-lt"/>
              </a:rPr>
              <a:t> </a:t>
            </a:r>
            <a:r>
              <a:rPr lang="en-US" altLang="zh-CN" err="1">
                <a:ea typeface="+mn-lt"/>
                <a:cs typeface="+mn-lt"/>
              </a:rPr>
              <a:t>bước</a:t>
            </a:r>
            <a:r>
              <a:rPr lang="zh-CN" altLang="en-US" dirty="0">
                <a:ea typeface="+mn-lt"/>
                <a:cs typeface="+mn-lt"/>
              </a:rPr>
              <a:t> </a:t>
            </a:r>
            <a:r>
              <a:rPr lang="en-US" altLang="zh-CN" dirty="0" err="1">
                <a:ea typeface="+mn-lt"/>
                <a:cs typeface="+mn-lt"/>
              </a:rPr>
              <a:t>của</a:t>
            </a:r>
            <a:r>
              <a:rPr lang="zh-CN" altLang="en-US" dirty="0">
                <a:ea typeface="+mn-lt"/>
                <a:cs typeface="+mn-lt"/>
              </a:rPr>
              <a:t> </a:t>
            </a:r>
            <a:r>
              <a:rPr lang="en-US" altLang="zh-CN" dirty="0" err="1">
                <a:ea typeface="+mn-lt"/>
                <a:cs typeface="+mn-lt"/>
              </a:rPr>
              <a:t>quá</a:t>
            </a:r>
            <a:r>
              <a:rPr lang="zh-CN" altLang="en-US" dirty="0">
                <a:ea typeface="+mn-lt"/>
                <a:cs typeface="+mn-lt"/>
              </a:rPr>
              <a:t> </a:t>
            </a:r>
            <a:r>
              <a:rPr lang="en-US" altLang="zh-CN" dirty="0" err="1">
                <a:ea typeface="+mn-lt"/>
                <a:cs typeface="+mn-lt"/>
              </a:rPr>
              <a:t>trình</a:t>
            </a:r>
            <a:r>
              <a:rPr lang="zh-CN" altLang="en-US" dirty="0">
                <a:ea typeface="+mn-lt"/>
                <a:cs typeface="+mn-lt"/>
              </a:rPr>
              <a:t> </a:t>
            </a:r>
            <a:r>
              <a:rPr lang="en-US" altLang="zh-CN" dirty="0" err="1">
                <a:ea typeface="+mn-lt"/>
                <a:cs typeface="+mn-lt"/>
              </a:rPr>
              <a:t>phát</a:t>
            </a:r>
            <a:r>
              <a:rPr lang="zh-CN" altLang="en-US" dirty="0">
                <a:ea typeface="+mn-lt"/>
                <a:cs typeface="+mn-lt"/>
              </a:rPr>
              <a:t> </a:t>
            </a:r>
            <a:r>
              <a:rPr lang="en-US" altLang="zh-CN" dirty="0" err="1">
                <a:ea typeface="+mn-lt"/>
                <a:cs typeface="+mn-lt"/>
              </a:rPr>
              <a:t>hiện</a:t>
            </a:r>
            <a:r>
              <a:rPr lang="zh-CN" altLang="en-US" dirty="0">
                <a:ea typeface="+mn-lt"/>
                <a:cs typeface="+mn-lt"/>
              </a:rPr>
              <a:t> </a:t>
            </a:r>
            <a:r>
              <a:rPr lang="en-US" altLang="zh-CN" dirty="0">
                <a:solidFill>
                  <a:srgbClr val="FF0000"/>
                </a:solidFill>
                <a:ea typeface="+mn-lt"/>
                <a:cs typeface="+mn-lt"/>
              </a:rPr>
              <a:t>tri</a:t>
            </a:r>
            <a:r>
              <a:rPr lang="zh-CN" alt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ea typeface="+mn-lt"/>
                <a:cs typeface="+mn-lt"/>
              </a:rPr>
              <a:t>thức</a:t>
            </a:r>
            <a:r>
              <a:rPr lang="zh-CN" altLang="en-US" dirty="0">
                <a:ea typeface="+mn-lt"/>
                <a:cs typeface="+mn-lt"/>
              </a:rPr>
              <a:t> </a:t>
            </a:r>
            <a:r>
              <a:rPr lang="en-US" altLang="zh-CN" dirty="0" err="1">
                <a:ea typeface="+mn-lt"/>
                <a:cs typeface="+mn-lt"/>
              </a:rPr>
              <a:t>gồm</a:t>
            </a:r>
            <a:endParaRPr lang="en-US" altLang="zh-CN">
              <a:ea typeface="+mn-lt"/>
              <a:cs typeface="+mn-lt"/>
            </a:endParaRPr>
          </a:p>
          <a:p>
            <a:pPr marL="914400" lvl="1" indent="-457200">
              <a:buAutoNum type="arabicPeriod"/>
            </a:pPr>
            <a:r>
              <a:rPr lang="en-US" altLang="zh-CN" dirty="0">
                <a:solidFill>
                  <a:srgbClr val="00B0F0"/>
                </a:solidFill>
                <a:ea typeface="等线"/>
                <a:cs typeface="Calibri"/>
              </a:rPr>
              <a:t>Thu </a:t>
            </a:r>
            <a:r>
              <a:rPr lang="en-US" altLang="zh-CN" dirty="0" err="1">
                <a:solidFill>
                  <a:srgbClr val="00B0F0"/>
                </a:solidFill>
                <a:ea typeface="等线"/>
                <a:cs typeface="Calibri"/>
              </a:rPr>
              <a:t>thập</a:t>
            </a:r>
            <a:r>
              <a:rPr lang="en-US" altLang="zh-CN" dirty="0">
                <a:solidFill>
                  <a:srgbClr val="00B0F0"/>
                </a:solidFill>
                <a:ea typeface="等线"/>
                <a:cs typeface="Calibri"/>
              </a:rPr>
              <a:t>, </a:t>
            </a:r>
            <a:r>
              <a:rPr lang="en-US" altLang="zh-CN" dirty="0" err="1">
                <a:solidFill>
                  <a:srgbClr val="00B0F0"/>
                </a:solidFill>
                <a:ea typeface="等线"/>
                <a:cs typeface="Calibri"/>
              </a:rPr>
              <a:t>lựa</a:t>
            </a:r>
            <a:r>
              <a:rPr lang="en-US" altLang="zh-CN" dirty="0">
                <a:solidFill>
                  <a:srgbClr val="00B0F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ea typeface="等线"/>
                <a:cs typeface="Calibri"/>
              </a:rPr>
              <a:t>chọn</a:t>
            </a:r>
            <a:r>
              <a:rPr lang="en-US" altLang="zh-CN" dirty="0">
                <a:solidFill>
                  <a:srgbClr val="00B0F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ea typeface="等线"/>
                <a:cs typeface="Calibri"/>
              </a:rPr>
              <a:t>dữ</a:t>
            </a:r>
            <a:r>
              <a:rPr lang="en-US" altLang="zh-CN" dirty="0">
                <a:solidFill>
                  <a:srgbClr val="00B0F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ea typeface="等线"/>
                <a:cs typeface="Calibri"/>
              </a:rPr>
              <a:t>liệu</a:t>
            </a:r>
            <a:endParaRPr lang="en-US" altLang="zh-CN">
              <a:solidFill>
                <a:srgbClr val="00B0F0"/>
              </a:solidFill>
              <a:ea typeface="等线"/>
              <a:cs typeface="Calibri"/>
            </a:endParaRPr>
          </a:p>
          <a:p>
            <a:pPr marL="914400" lvl="1" indent="-457200">
              <a:buAutoNum type="arabicPeriod"/>
            </a:pPr>
            <a:r>
              <a:rPr lang="en-US" altLang="zh-CN" dirty="0" err="1">
                <a:solidFill>
                  <a:srgbClr val="00B0F0"/>
                </a:solidFill>
                <a:ea typeface="等线"/>
                <a:cs typeface="Calibri"/>
              </a:rPr>
              <a:t>Tiền</a:t>
            </a:r>
            <a:r>
              <a:rPr lang="en-US" altLang="zh-CN" dirty="0">
                <a:solidFill>
                  <a:srgbClr val="00B0F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ea typeface="等线"/>
                <a:cs typeface="Calibri"/>
              </a:rPr>
              <a:t>xử</a:t>
            </a:r>
            <a:r>
              <a:rPr lang="en-US" altLang="zh-CN" dirty="0">
                <a:solidFill>
                  <a:srgbClr val="00B0F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ea typeface="等线"/>
                <a:cs typeface="Calibri"/>
              </a:rPr>
              <a:t>lý</a:t>
            </a:r>
            <a:r>
              <a:rPr lang="en-US" altLang="zh-CN" dirty="0">
                <a:solidFill>
                  <a:srgbClr val="00B0F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ea typeface="等线"/>
                <a:cs typeface="Calibri"/>
              </a:rPr>
              <a:t>dữ</a:t>
            </a:r>
            <a:r>
              <a:rPr lang="en-US" altLang="zh-CN" dirty="0">
                <a:solidFill>
                  <a:srgbClr val="00B0F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ea typeface="等线"/>
                <a:cs typeface="Calibri"/>
              </a:rPr>
              <a:t>liệu</a:t>
            </a:r>
            <a:endParaRPr lang="en-US" altLang="zh-CN">
              <a:solidFill>
                <a:srgbClr val="00B0F0"/>
              </a:solidFill>
              <a:ea typeface="等线"/>
              <a:cs typeface="Calibri"/>
            </a:endParaRPr>
          </a:p>
          <a:p>
            <a:pPr marL="914400" lvl="1" indent="-457200">
              <a:buAutoNum type="arabicPeriod"/>
            </a:pPr>
            <a:r>
              <a:rPr lang="en-US" altLang="zh-CN" dirty="0" err="1">
                <a:solidFill>
                  <a:srgbClr val="00B0F0"/>
                </a:solidFill>
                <a:ea typeface="等线"/>
                <a:cs typeface="Calibri"/>
              </a:rPr>
              <a:t>Chuyển</a:t>
            </a:r>
            <a:r>
              <a:rPr lang="en-US" altLang="zh-CN" dirty="0">
                <a:solidFill>
                  <a:srgbClr val="00B0F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B0F0"/>
                </a:solidFill>
                <a:ea typeface="等线"/>
                <a:cs typeface="Calibri"/>
              </a:rPr>
              <a:t>đổi</a:t>
            </a:r>
            <a:endParaRPr lang="en-US" altLang="zh-CN">
              <a:solidFill>
                <a:srgbClr val="00B0F0"/>
              </a:solidFill>
              <a:ea typeface="等线"/>
              <a:cs typeface="Calibri"/>
            </a:endParaRPr>
          </a:p>
          <a:p>
            <a:pPr marL="914400" lvl="1" indent="-457200">
              <a:buAutoNum type="arabicPeriod"/>
            </a:pP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Khai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phá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dữ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liệu</a:t>
            </a:r>
            <a:endParaRPr lang="en-US" altLang="zh-CN">
              <a:solidFill>
                <a:srgbClr val="000000"/>
              </a:solidFill>
              <a:ea typeface="等线"/>
              <a:cs typeface="Calibri"/>
            </a:endParaRPr>
          </a:p>
          <a:p>
            <a:pPr marL="914400" lvl="1" indent="-457200">
              <a:buAutoNum type="arabicPeriod"/>
            </a:pPr>
            <a:r>
              <a:rPr lang="en-US" dirty="0" err="1">
                <a:ea typeface="+mn-lt"/>
                <a:cs typeface="+mn-lt"/>
              </a:rPr>
              <a:t>Giải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thích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Đánh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endParaRPr lang="en-US" altLang="zh-CN" dirty="0" err="1">
              <a:solidFill>
                <a:srgbClr val="000000"/>
              </a:solidFill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9195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latin typeface="Linh AvantGarde"/>
                <a:ea typeface="等线 Light"/>
              </a:rPr>
              <a:t>ĐẶT VẤN ĐỀ</a:t>
            </a:r>
            <a:endParaRPr lang="zh-CN" altLang="en-US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Vì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sao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phải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tiền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xử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lý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dữ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liệu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?</a:t>
            </a:r>
          </a:p>
          <a:p>
            <a:pPr lvl="1"/>
            <a:r>
              <a:rPr lang="en-US" dirty="0" err="1">
                <a:ea typeface="+mn-lt"/>
                <a:cs typeface="+mn-lt"/>
              </a:rPr>
              <a:t>Không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đầy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đủ</a:t>
            </a:r>
            <a:r>
              <a:rPr lang="en-US" dirty="0">
                <a:ea typeface="+mn-lt"/>
                <a:cs typeface="+mn-lt"/>
              </a:rPr>
              <a:t> (Incomplete) : </a:t>
            </a:r>
            <a:r>
              <a:rPr lang="en-US" dirty="0" err="1">
                <a:ea typeface="+mn-lt"/>
                <a:cs typeface="+mn-lt"/>
              </a:rPr>
              <a:t>thiếu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một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vài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thuộc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tính</a:t>
            </a:r>
            <a:r>
              <a:rPr lang="en-US" dirty="0">
                <a:ea typeface="+mn-lt"/>
                <a:cs typeface="+mn-lt"/>
              </a:rPr>
              <a:t> ....</a:t>
            </a:r>
          </a:p>
          <a:p>
            <a:pPr lvl="1"/>
            <a:r>
              <a:rPr lang="en-US" dirty="0" err="1">
                <a:ea typeface="+mn-lt"/>
                <a:cs typeface="+mn-lt"/>
              </a:rPr>
              <a:t>Nhiễu</a:t>
            </a:r>
            <a:r>
              <a:rPr lang="en-US" dirty="0">
                <a:ea typeface="+mn-lt"/>
                <a:cs typeface="+mn-lt"/>
              </a:rPr>
              <a:t> (Noisy) : </a:t>
            </a:r>
            <a:r>
              <a:rPr lang="en-US" dirty="0" err="1">
                <a:ea typeface="+mn-lt"/>
                <a:cs typeface="+mn-lt"/>
              </a:rPr>
              <a:t>xuất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hiện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lỗi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lỗi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chủ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người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nhập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....</a:t>
            </a:r>
          </a:p>
          <a:p>
            <a:pPr lvl="1"/>
            <a:r>
              <a:rPr lang="en-US" dirty="0" err="1">
                <a:ea typeface="+mn-lt"/>
                <a:cs typeface="+mn-lt"/>
              </a:rPr>
              <a:t>Không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nhất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quán</a:t>
            </a:r>
            <a:r>
              <a:rPr lang="en-US" dirty="0">
                <a:ea typeface="+mn-lt"/>
                <a:cs typeface="+mn-lt"/>
              </a:rPr>
              <a:t> (Inconsistent) : </a:t>
            </a:r>
            <a:r>
              <a:rPr lang="en-US" dirty="0" err="1">
                <a:ea typeface="+mn-lt"/>
                <a:cs typeface="+mn-lt"/>
              </a:rPr>
              <a:t>sự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khác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biệt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trong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phân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loại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phân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biệt</a:t>
            </a:r>
            <a:r>
              <a:rPr lang="en-US" dirty="0">
                <a:ea typeface="+mn-lt"/>
                <a:cs typeface="+mn-lt"/>
              </a:rPr>
              <a:t> hay </a:t>
            </a:r>
            <a:r>
              <a:rPr lang="en-US" dirty="0" err="1">
                <a:ea typeface="+mn-lt"/>
                <a:cs typeface="+mn-lt"/>
              </a:rPr>
              <a:t>đơn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của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...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532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latin typeface="Linh AvantGarde"/>
                <a:ea typeface="等线 Light"/>
              </a:rPr>
              <a:t>ĐẶT VẤN ĐỀ</a:t>
            </a:r>
            <a:endParaRPr lang="zh-CN" altLang="en-US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Quy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trình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tiền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xử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lý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dữ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liệu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 </a:t>
            </a:r>
            <a:endParaRPr lang="en-US" altLang="zh-CN">
              <a:solidFill>
                <a:srgbClr val="000000"/>
              </a:solidFill>
              <a:ea typeface="等线"/>
              <a:cs typeface="Calibri"/>
            </a:endParaRPr>
          </a:p>
          <a:p>
            <a:pPr marL="914400" lvl="1" indent="-457200">
              <a:buAutoNum type="arabicPeriod"/>
            </a:pPr>
            <a:r>
              <a:rPr lang="en-US" dirty="0" err="1">
                <a:solidFill>
                  <a:srgbClr val="00B0F0"/>
                </a:solidFill>
                <a:ea typeface="+mn-lt"/>
                <a:cs typeface="+mn-lt"/>
              </a:rPr>
              <a:t>Làm</a:t>
            </a:r>
            <a:r>
              <a:rPr lang="en-US" dirty="0">
                <a:solidFill>
                  <a:srgbClr val="00B0F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B0F0"/>
                </a:solidFill>
                <a:ea typeface="+mn-lt"/>
                <a:cs typeface="+mn-lt"/>
              </a:rPr>
              <a:t>sạch</a:t>
            </a:r>
            <a:r>
              <a:rPr lang="en-US" dirty="0">
                <a:ea typeface="+mn-lt"/>
                <a:cs typeface="+mn-lt"/>
              </a:rPr>
              <a:t> : </a:t>
            </a:r>
            <a:r>
              <a:rPr lang="en-US" dirty="0" err="1">
                <a:ea typeface="+mn-lt"/>
                <a:cs typeface="+mn-lt"/>
              </a:rPr>
              <a:t>Loại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bỏ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sai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kiểm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tính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nhất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của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914400" lvl="1" indent="-457200">
              <a:buAutoNum type="arabicPeriod"/>
            </a:pPr>
            <a:r>
              <a:rPr lang="en-US" dirty="0" err="1">
                <a:solidFill>
                  <a:srgbClr val="00B0F0"/>
                </a:solidFill>
                <a:ea typeface="+mn-lt"/>
                <a:cs typeface="+mn-lt"/>
              </a:rPr>
              <a:t>Tích</a:t>
            </a:r>
            <a:r>
              <a:rPr lang="en-US" dirty="0">
                <a:solidFill>
                  <a:srgbClr val="00B0F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B0F0"/>
                </a:solidFill>
                <a:ea typeface="+mn-lt"/>
                <a:cs typeface="+mn-lt"/>
              </a:rPr>
              <a:t>hợp</a:t>
            </a:r>
            <a:r>
              <a:rPr lang="en-US" dirty="0">
                <a:ea typeface="+mn-lt"/>
                <a:cs typeface="+mn-lt"/>
              </a:rPr>
              <a:t> :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nhiều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nguồn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nên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cần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lưu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theo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một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thức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thống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nhất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914400" lvl="1" indent="-457200">
              <a:buAutoNum type="arabicPeriod"/>
            </a:pPr>
            <a:r>
              <a:rPr lang="en-US" dirty="0" err="1">
                <a:solidFill>
                  <a:srgbClr val="00B0F0"/>
                </a:solidFill>
                <a:ea typeface="+mn-lt"/>
                <a:cs typeface="+mn-lt"/>
              </a:rPr>
              <a:t>Chuyển</a:t>
            </a:r>
            <a:r>
              <a:rPr lang="en-US" dirty="0">
                <a:solidFill>
                  <a:srgbClr val="00B0F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B0F0"/>
                </a:solidFill>
                <a:ea typeface="+mn-lt"/>
                <a:cs typeface="+mn-lt"/>
              </a:rPr>
              <a:t>đổi</a:t>
            </a:r>
            <a:r>
              <a:rPr lang="en-US" dirty="0">
                <a:ea typeface="+mn-lt"/>
                <a:cs typeface="+mn-lt"/>
              </a:rPr>
              <a:t> : </a:t>
            </a:r>
            <a:r>
              <a:rPr lang="en-US" dirty="0" err="1">
                <a:ea typeface="+mn-lt"/>
                <a:cs typeface="+mn-lt"/>
              </a:rPr>
              <a:t>Chuẩn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hóa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tập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hợp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914400" lvl="1" indent="-457200">
              <a:buAutoNum type="arabicPeriod"/>
            </a:pPr>
            <a:r>
              <a:rPr lang="en-US" dirty="0" err="1">
                <a:solidFill>
                  <a:srgbClr val="00B0F0"/>
                </a:solidFill>
                <a:ea typeface="+mn-lt"/>
                <a:cs typeface="+mn-lt"/>
              </a:rPr>
              <a:t>Giảm</a:t>
            </a:r>
            <a:r>
              <a:rPr lang="en-US" dirty="0">
                <a:solidFill>
                  <a:srgbClr val="00B0F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00B0F0"/>
                </a:solidFill>
                <a:ea typeface="+mn-lt"/>
                <a:cs typeface="+mn-lt"/>
              </a:rPr>
              <a:t>chiều</a:t>
            </a:r>
            <a:r>
              <a:rPr lang="en-US" dirty="0">
                <a:ea typeface="+mn-lt"/>
                <a:cs typeface="+mn-lt"/>
              </a:rPr>
              <a:t> : </a:t>
            </a:r>
            <a:r>
              <a:rPr lang="en-US" dirty="0" err="1">
                <a:ea typeface="+mn-lt"/>
                <a:cs typeface="+mn-lt"/>
              </a:rPr>
              <a:t>Mô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tả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trong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kích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thước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nhỏ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nhưng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không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làm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mất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kết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quả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cần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kiết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xuất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 err="1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7703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latin typeface="Linh AvantGarde"/>
                <a:ea typeface="等线 Light"/>
              </a:rPr>
              <a:t>ĐẶT VẤN ĐỀ</a:t>
            </a:r>
            <a:endParaRPr lang="zh-CN" altLang="en-US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Quy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trình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tiền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xử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lý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dữ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等线"/>
                <a:cs typeface="Calibri"/>
              </a:rPr>
              <a:t>liệu</a:t>
            </a:r>
            <a:r>
              <a:rPr lang="en-US" altLang="zh-CN" dirty="0">
                <a:solidFill>
                  <a:srgbClr val="000000"/>
                </a:solidFill>
                <a:ea typeface="等线"/>
                <a:cs typeface="Calibri"/>
              </a:rPr>
              <a:t> </a:t>
            </a:r>
          </a:p>
          <a:p>
            <a:endParaRPr lang="en-US" altLang="zh-CN" dirty="0">
              <a:ea typeface="等线"/>
              <a:cs typeface="Calibri"/>
            </a:endParaRP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CCF4A81B-4C8D-4379-8259-CB37E6832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039" y="1402696"/>
            <a:ext cx="6020717" cy="436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9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latin typeface="Linh AvantGarde"/>
                <a:ea typeface="等线 Light"/>
              </a:rPr>
              <a:t>MỤC LỤC</a:t>
            </a:r>
            <a:endParaRPr lang="en-US" altLang="zh-CN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 err="1">
                <a:ea typeface="等线"/>
                <a:cs typeface="Calibri"/>
              </a:rPr>
              <a:t>Đặt</a:t>
            </a:r>
            <a:r>
              <a:rPr lang="zh-CN" altLang="en-US" dirty="0">
                <a:ea typeface="等线"/>
                <a:cs typeface="Calibri"/>
              </a:rPr>
              <a:t> vấn đề</a:t>
            </a:r>
          </a:p>
          <a:p>
            <a:r>
              <a:rPr lang="zh-CN" altLang="en-US" dirty="0">
                <a:solidFill>
                  <a:srgbClr val="00B0F0"/>
                </a:solidFill>
                <a:ea typeface="等线"/>
                <a:cs typeface="Calibri"/>
              </a:rPr>
              <a:t>Làm sạch dữ liệu</a:t>
            </a:r>
          </a:p>
          <a:p>
            <a:r>
              <a:rPr lang="zh-CN" altLang="en-US" dirty="0">
                <a:ea typeface="等线"/>
                <a:cs typeface="Calibri"/>
              </a:rPr>
              <a:t>Tích hợp </a:t>
            </a:r>
          </a:p>
          <a:p>
            <a:r>
              <a:rPr lang="zh-CN" altLang="en-US" dirty="0">
                <a:ea typeface="等线"/>
                <a:cs typeface="Calibri"/>
              </a:rPr>
              <a:t>Giảm chiều</a:t>
            </a:r>
          </a:p>
        </p:txBody>
      </p:sp>
    </p:spTree>
    <p:extLst>
      <p:ext uri="{BB962C8B-B14F-4D97-AF65-F5344CB8AC3E}">
        <p14:creationId xmlns:p14="http://schemas.microsoft.com/office/powerpoint/2010/main" val="769947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latin typeface="Linh AvantGarde"/>
                <a:ea typeface="等线 Light"/>
              </a:rPr>
              <a:t>LÀM SẠCH DỮ LIỆU</a:t>
            </a:r>
            <a:endParaRPr lang="zh-CN" altLang="en-US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Đây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thủ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tục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trọng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gồm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bước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chính</a:t>
            </a:r>
            <a:endParaRPr lang="en-US" dirty="0" err="1">
              <a:solidFill>
                <a:srgbClr val="000000"/>
              </a:solidFill>
              <a:ea typeface="等线"/>
              <a:cs typeface="Calibri"/>
            </a:endParaRPr>
          </a:p>
          <a:p>
            <a:pPr lvl="1" indent="-457200">
              <a:buAutoNum type="arabicPeriod"/>
            </a:pPr>
            <a:r>
              <a:rPr lang="en-US" dirty="0" err="1">
                <a:ea typeface="+mn-lt"/>
                <a:cs typeface="+mn-lt"/>
              </a:rPr>
              <a:t>Điền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đầy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mất</a:t>
            </a:r>
            <a:endParaRPr lang="en-US" dirty="0" err="1">
              <a:ea typeface="等线"/>
              <a:cs typeface="Calibri"/>
            </a:endParaRPr>
          </a:p>
          <a:p>
            <a:pPr lvl="1" indent="-457200">
              <a:buAutoNum type="arabicPeriod"/>
            </a:pPr>
            <a:r>
              <a:rPr lang="en-US" dirty="0" err="1">
                <a:ea typeface="+mn-lt"/>
                <a:cs typeface="+mn-lt"/>
              </a:rPr>
              <a:t>Chuốt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loại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nhiễu</a:t>
            </a:r>
            <a:endParaRPr lang="en-US" dirty="0" err="1">
              <a:ea typeface="等线"/>
              <a:cs typeface="Calibri"/>
            </a:endParaRPr>
          </a:p>
          <a:p>
            <a:pPr lvl="1" indent="-457200">
              <a:buAutoNum type="arabicPeriod"/>
            </a:pPr>
            <a:r>
              <a:rPr lang="en-US" dirty="0" err="1">
                <a:ea typeface="+mn-lt"/>
                <a:cs typeface="+mn-lt"/>
              </a:rPr>
              <a:t>Kiểm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sửa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tính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không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nhất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quán</a:t>
            </a:r>
            <a:endParaRPr lang="en-US" dirty="0" err="1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endParaRPr lang="en-US" altLang="zh-CN" dirty="0">
              <a:ea typeface="等线"/>
              <a:cs typeface="Calibri"/>
            </a:endParaRPr>
          </a:p>
        </p:txBody>
      </p:sp>
      <p:pic>
        <p:nvPicPr>
          <p:cNvPr id="5" name="Picture 5" descr="A picture containing toy, table, person, person&#10;&#10;Description automatically generated">
            <a:extLst>
              <a:ext uri="{FF2B5EF4-FFF2-40B4-BE49-F238E27FC236}">
                <a16:creationId xmlns:a16="http://schemas.microsoft.com/office/drawing/2014/main" id="{02AB1327-56C7-4993-A4CA-D2ABB0384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63" y="2618679"/>
            <a:ext cx="4932802" cy="302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73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latin typeface="Linh AvantGarde"/>
                <a:ea typeface="等线 Light"/>
              </a:rPr>
              <a:t>LÀM SẠCH DỮ LIỆU</a:t>
            </a:r>
            <a:endParaRPr lang="zh-CN" altLang="en-US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solidFill>
                  <a:srgbClr val="00B0F0"/>
                </a:solidFill>
                <a:ea typeface="+mn-lt"/>
                <a:cs typeface="+mn-lt"/>
              </a:rPr>
              <a:t>Bước</a:t>
            </a:r>
            <a:r>
              <a:rPr lang="en-US" b="1" dirty="0">
                <a:solidFill>
                  <a:srgbClr val="00B0F0"/>
                </a:solidFill>
                <a:ea typeface="+mn-lt"/>
                <a:cs typeface="+mn-lt"/>
              </a:rPr>
              <a:t> 1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Điền</a:t>
            </a:r>
            <a:r>
              <a:rPr lang="en-US" dirty="0">
                <a:ea typeface="+mn-lt"/>
                <a:cs typeface="+mn-lt"/>
              </a:rPr>
              <a:t> đ</a:t>
            </a:r>
            <a:r>
              <a:rPr lang="en-US" dirty="0" err="1">
                <a:ea typeface="+mn-lt"/>
                <a:cs typeface="+mn-lt"/>
              </a:rPr>
              <a:t>ầy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mất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chọn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một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trong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phương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pháp</a:t>
            </a:r>
            <a:endParaRPr lang="en-US" dirty="0" err="1">
              <a:ea typeface="等线"/>
              <a:cs typeface="Calibri"/>
            </a:endParaRPr>
          </a:p>
          <a:p>
            <a:pPr lvl="1" indent="-457200"/>
            <a:r>
              <a:rPr lang="en-US" dirty="0" err="1">
                <a:ea typeface="+mn-lt"/>
                <a:cs typeface="+mn-lt"/>
              </a:rPr>
              <a:t>Bỏ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không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xét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đến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bộ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mất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trị</a:t>
            </a:r>
            <a:endParaRPr lang="en-US" dirty="0" err="1">
              <a:ea typeface="等线"/>
              <a:cs typeface="Calibri"/>
            </a:endParaRPr>
          </a:p>
          <a:p>
            <a:pPr lvl="1" indent="-457200"/>
            <a:r>
              <a:rPr lang="en-US" dirty="0" err="1">
                <a:ea typeface="+mn-lt"/>
                <a:cs typeface="+mn-lt"/>
              </a:rPr>
              <a:t>Điền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lại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bằng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tay</a:t>
            </a:r>
            <a:endParaRPr lang="en-US" dirty="0" err="1">
              <a:ea typeface="等线"/>
              <a:cs typeface="Calibri"/>
            </a:endParaRPr>
          </a:p>
          <a:p>
            <a:pPr lvl="1" indent="-457200"/>
            <a:r>
              <a:rPr lang="en-US" dirty="0" err="1">
                <a:ea typeface="+mn-lt"/>
                <a:cs typeface="+mn-lt"/>
              </a:rPr>
              <a:t>Gán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nhãn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đặc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biệt</a:t>
            </a:r>
            <a:r>
              <a:rPr lang="en-US" dirty="0">
                <a:ea typeface="+mn-lt"/>
                <a:cs typeface="+mn-lt"/>
              </a:rPr>
              <a:t> hay </a:t>
            </a:r>
            <a:r>
              <a:rPr lang="en-US" dirty="0" err="1">
                <a:ea typeface="+mn-lt"/>
                <a:cs typeface="+mn-lt"/>
              </a:rPr>
              <a:t>ngoài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khoảng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biểu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diễn</a:t>
            </a:r>
            <a:endParaRPr lang="en-US" dirty="0" err="1">
              <a:ea typeface="等线"/>
              <a:cs typeface="Calibri"/>
            </a:endParaRPr>
          </a:p>
          <a:p>
            <a:pPr lvl="1" indent="-457200"/>
            <a:r>
              <a:rPr lang="en-US" dirty="0" err="1">
                <a:ea typeface="+mn-lt"/>
                <a:cs typeface="+mn-lt"/>
              </a:rPr>
              <a:t>Gán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trung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bình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nó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ea typeface="等线"/>
              <a:cs typeface="Calibri"/>
            </a:endParaRPr>
          </a:p>
          <a:p>
            <a:pPr lvl="1" indent="-457200"/>
            <a:r>
              <a:rPr lang="en-US" dirty="0" err="1">
                <a:ea typeface="+mn-lt"/>
                <a:cs typeface="+mn-lt"/>
              </a:rPr>
              <a:t>Gán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trung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bình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của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mẫu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khác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thuộc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cùng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lớp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đó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ea typeface="等线"/>
              <a:cs typeface="Calibri"/>
            </a:endParaRPr>
          </a:p>
          <a:p>
            <a:pPr lvl="1" indent="-457200"/>
            <a:r>
              <a:rPr lang="en-US" dirty="0" err="1">
                <a:ea typeface="+mn-lt"/>
                <a:cs typeface="+mn-lt"/>
              </a:rPr>
              <a:t>Tìm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xác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suất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lớn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nhất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điền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vào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chỗ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mất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hồi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quy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,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suy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diễn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Bayes,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cây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quyết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định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qui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nạp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57962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latin typeface="Linh AvantGarde"/>
                <a:ea typeface="等线 Light"/>
              </a:rPr>
              <a:t>LÀM SẠCH DỮ LIỆU</a:t>
            </a:r>
            <a:endParaRPr lang="zh-CN" altLang="en-US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solidFill>
                  <a:srgbClr val="00B0F0"/>
                </a:solidFill>
                <a:ea typeface="+mn-lt"/>
                <a:cs typeface="+mn-lt"/>
              </a:rPr>
              <a:t>Bước</a:t>
            </a:r>
            <a:r>
              <a:rPr lang="en-US" b="1" dirty="0">
                <a:solidFill>
                  <a:srgbClr val="00B0F0"/>
                </a:solidFill>
                <a:ea typeface="+mn-lt"/>
                <a:cs typeface="+mn-lt"/>
              </a:rPr>
              <a:t> 2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Chuốt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loại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nhiễu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chọn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một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trong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phương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pháp</a:t>
            </a:r>
            <a:endParaRPr lang="en-US" dirty="0" err="1">
              <a:ea typeface="等线"/>
              <a:cs typeface="Calibri"/>
            </a:endParaRPr>
          </a:p>
          <a:p>
            <a:pPr lvl="1" indent="-457200"/>
            <a:r>
              <a:rPr lang="en-US" dirty="0" err="1">
                <a:ea typeface="+mn-lt"/>
                <a:cs typeface="+mn-lt"/>
              </a:rPr>
              <a:t>Hồi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quy</a:t>
            </a:r>
            <a:r>
              <a:rPr lang="en-US" dirty="0">
                <a:ea typeface="+mn-lt"/>
                <a:cs typeface="+mn-lt"/>
              </a:rPr>
              <a:t> (Regression) : </a:t>
            </a:r>
            <a:r>
              <a:rPr lang="en-US" dirty="0" err="1">
                <a:ea typeface="+mn-lt"/>
                <a:cs typeface="+mn-lt"/>
              </a:rPr>
              <a:t>sẽ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dành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chương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riêng</a:t>
            </a:r>
            <a:endParaRPr lang="en-US" dirty="0" err="1">
              <a:ea typeface="等线"/>
              <a:cs typeface="Calibri"/>
            </a:endParaRPr>
          </a:p>
          <a:p>
            <a:pPr lvl="1" indent="-457200"/>
            <a:r>
              <a:rPr lang="en-US" dirty="0" err="1">
                <a:ea typeface="+mn-lt"/>
                <a:cs typeface="+mn-lt"/>
              </a:rPr>
              <a:t>Phân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cụm</a:t>
            </a:r>
            <a:r>
              <a:rPr lang="en-US" dirty="0">
                <a:ea typeface="+mn-lt"/>
                <a:cs typeface="+mn-lt"/>
              </a:rPr>
              <a:t> (Cluster) : </a:t>
            </a:r>
            <a:r>
              <a:rPr lang="en-US" dirty="0" err="1">
                <a:ea typeface="+mn-lt"/>
                <a:cs typeface="+mn-lt"/>
              </a:rPr>
              <a:t>sẽ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dành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chương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riêng</a:t>
            </a:r>
            <a:endParaRPr lang="en-US" dirty="0" err="1">
              <a:ea typeface="等线"/>
              <a:cs typeface="Calibri"/>
            </a:endParaRPr>
          </a:p>
          <a:p>
            <a:pPr marL="228600" lvl="1" indent="0">
              <a:buNone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endParaRPr lang="en-US" altLang="zh-CN" dirty="0"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5315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latin typeface="Linh AvantGarde"/>
                <a:ea typeface="等线 Light"/>
              </a:rPr>
              <a:t>LÀM SẠCH DỮ LIỆU</a:t>
            </a:r>
            <a:endParaRPr lang="zh-CN" altLang="en-US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solidFill>
                  <a:srgbClr val="00B0F0"/>
                </a:solidFill>
                <a:ea typeface="+mn-lt"/>
                <a:cs typeface="+mn-lt"/>
              </a:rPr>
              <a:t>Bước</a:t>
            </a:r>
            <a:r>
              <a:rPr lang="en-US" b="1" dirty="0">
                <a:solidFill>
                  <a:srgbClr val="00B0F0"/>
                </a:solidFill>
                <a:ea typeface="+mn-lt"/>
                <a:cs typeface="+mn-lt"/>
              </a:rPr>
              <a:t> 3</a:t>
            </a:r>
            <a:r>
              <a:rPr lang="en-US" dirty="0">
                <a:ea typeface="+mn-lt"/>
                <a:cs typeface="+mn-lt"/>
              </a:rPr>
              <a:t>: 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kiểm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tra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sửa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tính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không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nhất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quán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trong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. </a:t>
            </a:r>
            <a:endParaRPr lang="en-US" dirty="0">
              <a:ea typeface="等线"/>
              <a:cs typeface="Calibri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Đề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phát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hiện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kiểm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sự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bất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thường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trong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Dùng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sửa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tính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không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nhất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quán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endParaRPr lang="en-US" dirty="0">
              <a:ea typeface="等线"/>
              <a:cs typeface="Calibri"/>
            </a:endParaRPr>
          </a:p>
          <a:p>
            <a:pPr lvl="2"/>
            <a:r>
              <a:rPr lang="en-US" dirty="0">
                <a:ea typeface="+mn-lt"/>
                <a:cs typeface="+mn-lt"/>
              </a:rPr>
              <a:t>Công </a:t>
            </a:r>
            <a:r>
              <a:rPr lang="en-US" dirty="0" err="1">
                <a:ea typeface="+mn-lt"/>
                <a:cs typeface="+mn-lt"/>
              </a:rPr>
              <a:t>cụ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chà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(Data scrubbing tools) : </a:t>
            </a:r>
            <a:r>
              <a:rPr lang="en-US" dirty="0" err="1">
                <a:ea typeface="+mn-lt"/>
                <a:cs typeface="+mn-lt"/>
              </a:rPr>
              <a:t>dùng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một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lĩnh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vực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thể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 err="1"/>
          </a:p>
          <a:p>
            <a:pPr lvl="2"/>
            <a:r>
              <a:rPr lang="en-US" dirty="0">
                <a:ea typeface="+mn-lt"/>
                <a:cs typeface="+mn-lt"/>
              </a:rPr>
              <a:t>Công </a:t>
            </a:r>
            <a:r>
              <a:rPr lang="en-US" dirty="0" err="1">
                <a:ea typeface="+mn-lt"/>
                <a:cs typeface="+mn-lt"/>
              </a:rPr>
              <a:t>cụ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kiểm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toán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(Data auditing tools) : </a:t>
            </a:r>
            <a:r>
              <a:rPr lang="en-US" dirty="0" err="1">
                <a:ea typeface="+mn-lt"/>
                <a:cs typeface="+mn-lt"/>
              </a:rPr>
              <a:t>dùng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việc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phân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tích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xác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định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hệ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xác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định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luật</a:t>
            </a:r>
            <a:r>
              <a:rPr lang="en-US" dirty="0">
                <a:ea typeface="+mn-lt"/>
                <a:cs typeface="+mn-lt"/>
              </a:rPr>
              <a:t>. </a:t>
            </a:r>
            <a:endParaRPr lang="en-US" dirty="0">
              <a:cs typeface="Calibri" panose="020F0502020204030204"/>
            </a:endParaRPr>
          </a:p>
          <a:p>
            <a:pPr lvl="2"/>
            <a:endParaRPr lang="en-US" dirty="0">
              <a:ea typeface="等线"/>
              <a:cs typeface="Calibri"/>
            </a:endParaRPr>
          </a:p>
          <a:p>
            <a:pPr lvl="1"/>
            <a:endParaRPr lang="en-US" dirty="0">
              <a:ea typeface="等线"/>
              <a:cs typeface="Calibri"/>
            </a:endParaRPr>
          </a:p>
          <a:p>
            <a:pPr marL="228600" lvl="1" indent="0">
              <a:buNone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endParaRPr lang="en-US" altLang="zh-CN" dirty="0"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202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latin typeface="Linh AvantGarde"/>
                <a:ea typeface="等线 Light"/>
              </a:rPr>
              <a:t>MỤC LỤC</a:t>
            </a:r>
            <a:endParaRPr lang="en-US" altLang="zh-CN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 err="1">
                <a:ea typeface="等线"/>
                <a:cs typeface="Calibri"/>
              </a:rPr>
              <a:t>Đặt</a:t>
            </a:r>
            <a:r>
              <a:rPr lang="zh-CN" altLang="en-US">
                <a:ea typeface="等线"/>
                <a:cs typeface="Calibri"/>
              </a:rPr>
              <a:t> vấn đề</a:t>
            </a:r>
          </a:p>
          <a:p>
            <a:r>
              <a:rPr lang="zh-CN" altLang="en-US">
                <a:ea typeface="等线"/>
                <a:cs typeface="Calibri"/>
              </a:rPr>
              <a:t>Làm sạch dữ liệu</a:t>
            </a:r>
          </a:p>
          <a:p>
            <a:r>
              <a:rPr lang="zh-CN" altLang="en-US">
                <a:solidFill>
                  <a:srgbClr val="00B0F0"/>
                </a:solidFill>
                <a:ea typeface="等线"/>
                <a:cs typeface="Calibri"/>
              </a:rPr>
              <a:t>Tích hợp </a:t>
            </a:r>
            <a:endParaRPr lang="zh-CN" altLang="en-US" dirty="0">
              <a:ea typeface="等线"/>
              <a:cs typeface="Calibri"/>
            </a:endParaRPr>
          </a:p>
          <a:p>
            <a:r>
              <a:rPr lang="zh-CN" altLang="en-US">
                <a:ea typeface="等线"/>
                <a:cs typeface="Calibri"/>
              </a:rPr>
              <a:t>Giảm chiều</a:t>
            </a:r>
            <a:endParaRPr lang="zh-CN" altLang="en-US" dirty="0"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26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latin typeface="Linh AvantGarde"/>
                <a:ea typeface="等线 Light"/>
              </a:rPr>
              <a:t>TÍCH HỢP</a:t>
            </a:r>
            <a:endParaRPr lang="en-US" altLang="zh-CN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等线"/>
                <a:cs typeface="Calibri"/>
              </a:rPr>
              <a:t>Ý </a:t>
            </a:r>
            <a:r>
              <a:rPr lang="en-US" b="1" dirty="0" err="1">
                <a:ea typeface="等线"/>
                <a:cs typeface="Calibri"/>
              </a:rPr>
              <a:t>nghĩa</a:t>
            </a:r>
            <a:r>
              <a:rPr lang="en-US" b="1" dirty="0">
                <a:ea typeface="等线"/>
                <a:cs typeface="Calibri"/>
              </a:rPr>
              <a:t> </a:t>
            </a:r>
            <a:r>
              <a:rPr lang="en-US" b="1" dirty="0" err="1">
                <a:ea typeface="等线"/>
                <a:cs typeface="Calibri"/>
              </a:rPr>
              <a:t>tích</a:t>
            </a:r>
            <a:r>
              <a:rPr lang="en-US" b="1" dirty="0">
                <a:ea typeface="等线"/>
                <a:cs typeface="Calibri"/>
              </a:rPr>
              <a:t> </a:t>
            </a:r>
            <a:r>
              <a:rPr lang="en-US" b="1" dirty="0" err="1">
                <a:ea typeface="等线"/>
                <a:cs typeface="Calibri"/>
              </a:rPr>
              <a:t>hợp</a:t>
            </a:r>
            <a:r>
              <a:rPr lang="en-US" b="1" dirty="0">
                <a:ea typeface="等线"/>
                <a:cs typeface="Calibri"/>
              </a:rPr>
              <a:t> </a:t>
            </a:r>
            <a:r>
              <a:rPr lang="en-US" b="1" dirty="0" err="1">
                <a:ea typeface="等线"/>
                <a:cs typeface="Calibri"/>
              </a:rPr>
              <a:t>và</a:t>
            </a:r>
            <a:r>
              <a:rPr lang="en-US" b="1" dirty="0">
                <a:ea typeface="等线"/>
                <a:cs typeface="Calibri"/>
              </a:rPr>
              <a:t> </a:t>
            </a:r>
            <a:r>
              <a:rPr lang="en-US" b="1" dirty="0" err="1">
                <a:ea typeface="等线"/>
                <a:cs typeface="Calibri"/>
              </a:rPr>
              <a:t>chuyển</a:t>
            </a:r>
            <a:r>
              <a:rPr lang="en-US" b="1" dirty="0">
                <a:ea typeface="等线"/>
                <a:cs typeface="Calibri"/>
              </a:rPr>
              <a:t> </a:t>
            </a:r>
            <a:r>
              <a:rPr lang="en-US" b="1" dirty="0" err="1">
                <a:ea typeface="等线"/>
                <a:cs typeface="Calibri"/>
              </a:rPr>
              <a:t>đổi</a:t>
            </a:r>
            <a:r>
              <a:rPr lang="en-US" b="1" dirty="0">
                <a:ea typeface="等线"/>
                <a:cs typeface="Calibri"/>
              </a:rPr>
              <a:t> </a:t>
            </a:r>
            <a:r>
              <a:rPr lang="en-US" b="1" dirty="0" err="1">
                <a:ea typeface="等线"/>
                <a:cs typeface="Calibri"/>
              </a:rPr>
              <a:t>dữ</a:t>
            </a:r>
            <a:r>
              <a:rPr lang="en-US" b="1" dirty="0">
                <a:ea typeface="等线"/>
                <a:cs typeface="Calibri"/>
              </a:rPr>
              <a:t> </a:t>
            </a:r>
            <a:r>
              <a:rPr lang="en-US" b="1" dirty="0" err="1">
                <a:ea typeface="等线"/>
                <a:cs typeface="Calibri"/>
              </a:rPr>
              <a:t>liệu</a:t>
            </a:r>
            <a:r>
              <a:rPr lang="en-US" b="1" dirty="0">
                <a:ea typeface="等线"/>
                <a:cs typeface="Calibri"/>
              </a:rPr>
              <a:t>, </a:t>
            </a:r>
            <a:r>
              <a:rPr lang="en-US" b="1" dirty="0" err="1">
                <a:ea typeface="等线"/>
                <a:cs typeface="Calibri"/>
              </a:rPr>
              <a:t>chuẩn</a:t>
            </a:r>
            <a:r>
              <a:rPr lang="en-US" b="1" dirty="0">
                <a:ea typeface="等线"/>
                <a:cs typeface="Calibri"/>
              </a:rPr>
              <a:t> </a:t>
            </a:r>
            <a:r>
              <a:rPr lang="en-US" b="1" dirty="0" err="1">
                <a:ea typeface="等线"/>
                <a:cs typeface="Calibri"/>
              </a:rPr>
              <a:t>hóa</a:t>
            </a:r>
            <a:r>
              <a:rPr lang="en-US" b="1" dirty="0">
                <a:ea typeface="等线"/>
                <a:cs typeface="Calibri"/>
              </a:rPr>
              <a:t> </a:t>
            </a:r>
            <a:r>
              <a:rPr lang="en-US" b="1" dirty="0" err="1">
                <a:ea typeface="+mn-lt"/>
                <a:cs typeface="+mn-lt"/>
              </a:rPr>
              <a:t>để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tiến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hành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khai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phá</a:t>
            </a:r>
            <a:r>
              <a:rPr lang="en-US" b="1" dirty="0">
                <a:ea typeface="+mn-lt"/>
                <a:cs typeface="+mn-lt"/>
              </a:rPr>
              <a:t>/</a:t>
            </a:r>
            <a:r>
              <a:rPr lang="en-US" b="1" dirty="0" err="1">
                <a:ea typeface="+mn-lt"/>
                <a:cs typeface="+mn-lt"/>
              </a:rPr>
              <a:t>học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máy</a:t>
            </a:r>
            <a:r>
              <a:rPr lang="en-US" b="1" dirty="0">
                <a:ea typeface="+mn-lt"/>
                <a:cs typeface="+mn-lt"/>
              </a:rPr>
              <a:t> </a:t>
            </a:r>
            <a:endParaRPr lang="en-US" b="1" dirty="0">
              <a:cs typeface="Calibri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Tập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hợp</a:t>
            </a:r>
            <a:r>
              <a:rPr lang="en-US" dirty="0">
                <a:ea typeface="+mn-lt"/>
                <a:cs typeface="+mn-lt"/>
              </a:rPr>
              <a:t> :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tạo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thành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bộ</a:t>
            </a:r>
            <a:r>
              <a:rPr lang="en-US" dirty="0">
                <a:ea typeface="+mn-lt"/>
                <a:cs typeface="+mn-lt"/>
              </a:rPr>
              <a:t> hay </a:t>
            </a:r>
            <a:r>
              <a:rPr lang="en-US" dirty="0" err="1">
                <a:ea typeface="+mn-lt"/>
                <a:cs typeface="+mn-lt"/>
              </a:rPr>
              <a:t>khối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Tổng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quát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hóa</a:t>
            </a:r>
            <a:r>
              <a:rPr lang="en-US" dirty="0">
                <a:ea typeface="+mn-lt"/>
                <a:cs typeface="+mn-lt"/>
              </a:rPr>
              <a:t> (generalization) :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thô</a:t>
            </a:r>
            <a:r>
              <a:rPr lang="en-US" dirty="0">
                <a:ea typeface="+mn-lt"/>
                <a:cs typeface="+mn-lt"/>
              </a:rPr>
              <a:t>" </a:t>
            </a:r>
            <a:r>
              <a:rPr lang="en-US" dirty="0" err="1">
                <a:ea typeface="+mn-lt"/>
                <a:cs typeface="+mn-lt"/>
              </a:rPr>
              <a:t>được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thay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bằng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khái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niệm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đã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chuẩn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hóa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dirty="0" err="1">
                <a:ea typeface="+mn-lt"/>
                <a:cs typeface="+mn-lt"/>
              </a:rPr>
              <a:t>Chuẩn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hóa</a:t>
            </a:r>
            <a:r>
              <a:rPr lang="en-US" dirty="0">
                <a:ea typeface="+mn-lt"/>
                <a:cs typeface="+mn-lt"/>
              </a:rPr>
              <a:t> (normalization) : </a:t>
            </a:r>
            <a:r>
              <a:rPr lang="en-US" dirty="0" err="1">
                <a:ea typeface="+mn-lt"/>
                <a:cs typeface="+mn-lt"/>
              </a:rPr>
              <a:t>nếu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phạm</a:t>
            </a:r>
            <a:r>
              <a:rPr lang="en-US" dirty="0">
                <a:ea typeface="+mn-lt"/>
                <a:cs typeface="+mn-lt"/>
              </a:rPr>
              <a:t> vi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lớn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thì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đưa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về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phạm</a:t>
            </a:r>
            <a:r>
              <a:rPr lang="en-US" dirty="0">
                <a:ea typeface="+mn-lt"/>
                <a:cs typeface="+mn-lt"/>
              </a:rPr>
              <a:t> vi </a:t>
            </a:r>
            <a:r>
              <a:rPr lang="en-US" dirty="0" err="1">
                <a:ea typeface="+mn-lt"/>
                <a:cs typeface="+mn-lt"/>
              </a:rPr>
              <a:t>chuẩn</a:t>
            </a:r>
            <a:endParaRPr lang="en-US">
              <a:cs typeface="Calibri"/>
            </a:endParaRPr>
          </a:p>
          <a:p>
            <a:pPr lvl="1"/>
            <a:r>
              <a:rPr lang="en-US" err="1">
                <a:ea typeface="+mn-lt"/>
                <a:cs typeface="+mn-lt"/>
              </a:rPr>
              <a:t>Xây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dựng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thuộc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tính</a:t>
            </a:r>
            <a:r>
              <a:rPr lang="en-US" dirty="0">
                <a:ea typeface="+mn-lt"/>
                <a:cs typeface="+mn-lt"/>
              </a:rPr>
              <a:t> (attribute construction) : </a:t>
            </a:r>
            <a:r>
              <a:rPr lang="en-US" dirty="0" err="1">
                <a:ea typeface="+mn-lt"/>
                <a:cs typeface="+mn-lt"/>
              </a:rPr>
              <a:t>thuộc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tính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mới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thêm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vào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giúp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trinh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khai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endParaRPr lang="en-US">
              <a:cs typeface="Calibri"/>
            </a:endParaRPr>
          </a:p>
          <a:p>
            <a:pPr lvl="2"/>
            <a:endParaRPr lang="en-US" dirty="0">
              <a:ea typeface="等线"/>
              <a:cs typeface="Calibri"/>
            </a:endParaRPr>
          </a:p>
          <a:p>
            <a:pPr lvl="1"/>
            <a:endParaRPr lang="en-US" dirty="0">
              <a:ea typeface="等线"/>
              <a:cs typeface="Calibri"/>
            </a:endParaRPr>
          </a:p>
          <a:p>
            <a:pPr marL="228600" lvl="1" indent="0">
              <a:buNone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endParaRPr lang="en-US" altLang="zh-CN" dirty="0"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7668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latin typeface="Linh AvantGarde"/>
                <a:ea typeface="等线 Light"/>
              </a:rPr>
              <a:t>MỤC LỤC</a:t>
            </a:r>
            <a:endParaRPr lang="en-US" altLang="zh-CN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 err="1">
                <a:ea typeface="等线"/>
                <a:cs typeface="Calibri"/>
              </a:rPr>
              <a:t>Đặt</a:t>
            </a:r>
            <a:r>
              <a:rPr lang="zh-CN" altLang="en-US">
                <a:ea typeface="等线"/>
                <a:cs typeface="Calibri"/>
              </a:rPr>
              <a:t> vấn đề</a:t>
            </a:r>
          </a:p>
          <a:p>
            <a:r>
              <a:rPr lang="zh-CN" altLang="en-US">
                <a:ea typeface="等线"/>
                <a:cs typeface="Calibri"/>
              </a:rPr>
              <a:t>Làm sạch dữ liệu</a:t>
            </a:r>
          </a:p>
          <a:p>
            <a:r>
              <a:rPr lang="zh-CN" altLang="en-US">
                <a:ea typeface="等线"/>
                <a:cs typeface="Calibri"/>
              </a:rPr>
              <a:t>Tích hợp</a:t>
            </a:r>
            <a:r>
              <a:rPr lang="zh-CN" altLang="en-US">
                <a:solidFill>
                  <a:srgbClr val="00B0F0"/>
                </a:solidFill>
                <a:ea typeface="等线"/>
                <a:cs typeface="Calibri"/>
              </a:rPr>
              <a:t> </a:t>
            </a:r>
            <a:endParaRPr lang="zh-CN" altLang="en-US" dirty="0">
              <a:ea typeface="等线"/>
              <a:cs typeface="Calibri"/>
            </a:endParaRPr>
          </a:p>
          <a:p>
            <a:r>
              <a:rPr lang="zh-CN" altLang="en-US">
                <a:solidFill>
                  <a:srgbClr val="00B0F0"/>
                </a:solidFill>
                <a:ea typeface="等线"/>
                <a:cs typeface="Calibri"/>
              </a:rPr>
              <a:t>Giảm chiều</a:t>
            </a:r>
            <a:endParaRPr lang="zh-CN" altLang="en-US" dirty="0">
              <a:solidFill>
                <a:srgbClr val="00B0F0"/>
              </a:solidFill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2169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latin typeface="Linh AvantGarde"/>
                <a:ea typeface="等线 Light"/>
              </a:rPr>
              <a:t>GIẢM CHIỀU</a:t>
            </a:r>
            <a:endParaRPr lang="en-US" altLang="zh-CN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B0F0"/>
                </a:solidFill>
                <a:ea typeface="+mn-lt"/>
                <a:cs typeface="+mn-lt"/>
              </a:rPr>
              <a:t>Ý </a:t>
            </a:r>
            <a:r>
              <a:rPr lang="en-US" dirty="0" err="1">
                <a:solidFill>
                  <a:srgbClr val="00B0F0"/>
                </a:solidFill>
                <a:ea typeface="+mn-lt"/>
                <a:cs typeface="+mn-lt"/>
              </a:rPr>
              <a:t>nghĩa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Việc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giảm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kích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thước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của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cần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đồng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thời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được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tính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phân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tích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tăng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tốc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qúa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trình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khai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phá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học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máy</a:t>
            </a:r>
            <a:r>
              <a:rPr lang="en-US" dirty="0">
                <a:ea typeface="+mn-lt"/>
                <a:cs typeface="+mn-lt"/>
              </a:rPr>
              <a:t>  </a:t>
            </a:r>
            <a:endParaRPr lang="en-US" dirty="0">
              <a:cs typeface="Calibri"/>
            </a:endParaRPr>
          </a:p>
          <a:p>
            <a:pPr lvl="2"/>
            <a:endParaRPr lang="en-US" dirty="0">
              <a:ea typeface="等线"/>
              <a:cs typeface="Calibri"/>
            </a:endParaRPr>
          </a:p>
          <a:p>
            <a:pPr lvl="1"/>
            <a:endParaRPr lang="en-US" dirty="0">
              <a:ea typeface="等线"/>
              <a:cs typeface="Calibri"/>
            </a:endParaRPr>
          </a:p>
          <a:p>
            <a:pPr marL="228600" lvl="1" indent="0">
              <a:buNone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endParaRPr lang="en-US" altLang="zh-CN" dirty="0"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7520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latin typeface="Linh AvantGarde"/>
                <a:ea typeface="等线 Light"/>
              </a:rPr>
              <a:t>GIẢM CHIỀU</a:t>
            </a:r>
            <a:endParaRPr lang="en-US" altLang="zh-CN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Các </a:t>
            </a:r>
            <a:r>
              <a:rPr lang="en-US" dirty="0" err="1">
                <a:cs typeface="Calibri"/>
              </a:rPr>
              <a:t>chiến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lược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solidFill>
                  <a:srgbClr val="00B0F0"/>
                </a:solidFill>
                <a:cs typeface="Calibri"/>
              </a:rPr>
              <a:t>giảm</a:t>
            </a:r>
            <a:r>
              <a:rPr lang="en-US" dirty="0">
                <a:solidFill>
                  <a:srgbClr val="00B0F0"/>
                </a:solidFill>
                <a:cs typeface="Calibri"/>
              </a:rPr>
              <a:t> </a:t>
            </a:r>
            <a:r>
              <a:rPr lang="en-US" dirty="0" err="1">
                <a:solidFill>
                  <a:srgbClr val="00B0F0"/>
                </a:solidFill>
                <a:cs typeface="Calibri"/>
              </a:rPr>
              <a:t>kích</a:t>
            </a:r>
            <a:r>
              <a:rPr lang="en-US" dirty="0">
                <a:solidFill>
                  <a:srgbClr val="00B0F0"/>
                </a:solidFill>
                <a:cs typeface="Calibri"/>
              </a:rPr>
              <a:t> </a:t>
            </a:r>
            <a:r>
              <a:rPr lang="en-US" dirty="0" err="1">
                <a:solidFill>
                  <a:srgbClr val="00B0F0"/>
                </a:solidFill>
                <a:cs typeface="Calibri"/>
              </a:rPr>
              <a:t>thước</a:t>
            </a:r>
            <a:r>
              <a:rPr lang="en-US" dirty="0">
                <a:solidFill>
                  <a:srgbClr val="00B0F0"/>
                </a:solidFill>
                <a:cs typeface="Calibri"/>
              </a:rPr>
              <a:t> </a:t>
            </a:r>
            <a:r>
              <a:rPr lang="en-US" dirty="0" err="1">
                <a:solidFill>
                  <a:srgbClr val="00B0F0"/>
                </a:solidFill>
                <a:cs typeface="Calibri"/>
              </a:rPr>
              <a:t>dữ</a:t>
            </a:r>
            <a:r>
              <a:rPr lang="en-US" dirty="0">
                <a:solidFill>
                  <a:srgbClr val="00B0F0"/>
                </a:solidFill>
                <a:cs typeface="Calibri"/>
              </a:rPr>
              <a:t> </a:t>
            </a:r>
            <a:r>
              <a:rPr lang="en-US" dirty="0" err="1">
                <a:solidFill>
                  <a:srgbClr val="00B0F0"/>
                </a:solidFill>
                <a:cs typeface="Calibri"/>
              </a:rPr>
              <a:t>liệu</a:t>
            </a:r>
            <a:endParaRPr lang="en-US" dirty="0">
              <a:solidFill>
                <a:srgbClr val="00B0F0"/>
              </a:solidFill>
              <a:cs typeface="Calibri"/>
            </a:endParaRPr>
          </a:p>
          <a:p>
            <a:pPr lvl="1"/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Lựa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chọn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tập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con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các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thuộc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tính</a:t>
            </a:r>
            <a:r>
              <a:rPr lang="en-US" dirty="0">
                <a:ea typeface="+mn-lt"/>
                <a:cs typeface="+mn-lt"/>
              </a:rPr>
              <a:t> : </a:t>
            </a:r>
            <a:r>
              <a:rPr lang="en-US" dirty="0" err="1">
                <a:ea typeface="+mn-lt"/>
                <a:cs typeface="+mn-lt"/>
              </a:rPr>
              <a:t>trong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thuộc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tính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không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liên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quan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dư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thừa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hoặc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chiều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cũng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xóa</a:t>
            </a:r>
            <a:r>
              <a:rPr lang="en-US" dirty="0">
                <a:ea typeface="+mn-lt"/>
                <a:cs typeface="+mn-lt"/>
              </a:rPr>
              <a:t> hay </a:t>
            </a:r>
            <a:r>
              <a:rPr lang="en-US" dirty="0" err="1">
                <a:ea typeface="+mn-lt"/>
                <a:cs typeface="+mn-lt"/>
              </a:rPr>
              <a:t>loại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bỏ</a:t>
            </a:r>
            <a:endParaRPr lang="en-US" dirty="0" err="1">
              <a:cs typeface="Calibri" panose="020F0502020204030204"/>
            </a:endParaRPr>
          </a:p>
          <a:p>
            <a:pPr lvl="1"/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Giảm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chiều</a:t>
            </a:r>
            <a:r>
              <a:rPr lang="en-US" dirty="0">
                <a:ea typeface="+mn-lt"/>
                <a:cs typeface="+mn-lt"/>
              </a:rPr>
              <a:t> : </a:t>
            </a:r>
            <a:r>
              <a:rPr lang="en-US" dirty="0" err="1">
                <a:ea typeface="+mn-lt"/>
                <a:cs typeface="+mn-lt"/>
              </a:rPr>
              <a:t>trong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chế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mã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hóa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được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sử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dụng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để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giảm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kích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tập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endParaRPr lang="en-US" dirty="0" err="1">
              <a:cs typeface="Calibri" panose="020F0502020204030204"/>
            </a:endParaRPr>
          </a:p>
          <a:p>
            <a:pPr lvl="1"/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Rời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rạc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hóa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và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trừu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tượng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khái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FF0000"/>
                </a:solidFill>
                <a:ea typeface="+mn-lt"/>
                <a:cs typeface="+mn-lt"/>
              </a:rPr>
              <a:t>niệm</a:t>
            </a:r>
            <a:r>
              <a:rPr lang="en-US" dirty="0">
                <a:ea typeface="+mn-lt"/>
                <a:cs typeface="+mn-lt"/>
              </a:rPr>
              <a:t> : </a:t>
            </a:r>
            <a:r>
              <a:rPr lang="en-US" dirty="0" err="1">
                <a:ea typeface="+mn-lt"/>
                <a:cs typeface="+mn-lt"/>
              </a:rPr>
              <a:t>trong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dữ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liệu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thô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được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thay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thế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bằng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khái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niệm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trừu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tượng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đã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rời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rạc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hóa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cs typeface="Calibri" panose="020F0502020204030204"/>
            </a:endParaRPr>
          </a:p>
          <a:p>
            <a:pPr lvl="2"/>
            <a:endParaRPr lang="en-US" dirty="0">
              <a:ea typeface="等线"/>
              <a:cs typeface="Calibri"/>
            </a:endParaRPr>
          </a:p>
          <a:p>
            <a:pPr lvl="1"/>
            <a:endParaRPr lang="en-US" dirty="0">
              <a:ea typeface="等线"/>
              <a:cs typeface="Calibri"/>
            </a:endParaRPr>
          </a:p>
          <a:p>
            <a:pPr marL="228600" lvl="1" indent="0">
              <a:buNone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endParaRPr lang="en-US" altLang="zh-CN" dirty="0"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57988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4EFF-FDBF-408D-A01A-0AB911C8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4606"/>
            <a:ext cx="7886700" cy="737960"/>
          </a:xfrm>
        </p:spPr>
        <p:txBody>
          <a:bodyPr>
            <a:normAutofit/>
          </a:bodyPr>
          <a:lstStyle/>
          <a:p>
            <a:r>
              <a:rPr lang="en-US" altLang="zh-CN" sz="3000" b="1" dirty="0">
                <a:latin typeface="Linh AvantGarde"/>
                <a:ea typeface="等线 Light"/>
              </a:rPr>
              <a:t>TỔNG KẾT</a:t>
            </a:r>
            <a:endParaRPr lang="en-US" altLang="zh-CN" sz="3000" b="1" dirty="0">
              <a:latin typeface="Linh AvantGarde" panose="02000603030000020004" pitchFamily="2" charset="0"/>
              <a:ea typeface="等线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E7B60-7884-41D8-AE04-F49F33E8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52566"/>
            <a:ext cx="7886700" cy="51748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 panose="020F0502020204030204"/>
              </a:rPr>
              <a:t>Scikit-learn, </a:t>
            </a:r>
            <a:r>
              <a:rPr lang="en-US" dirty="0" err="1">
                <a:cs typeface="Calibri" panose="020F0502020204030204"/>
              </a:rPr>
              <a:t>pytorch</a:t>
            </a:r>
            <a:r>
              <a:rPr lang="en-US" dirty="0">
                <a:cs typeface="Calibri" panose="020F0502020204030204"/>
              </a:rPr>
              <a:t>, </a:t>
            </a:r>
            <a:r>
              <a:rPr lang="en-US" dirty="0" err="1">
                <a:cs typeface="Calibri" panose="020F0502020204030204"/>
              </a:rPr>
              <a:t>keras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là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những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thư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viện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phổ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biến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sử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dụng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trong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học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máy</a:t>
            </a:r>
            <a:endParaRPr lang="en-US" dirty="0">
              <a:cs typeface="Calibri" panose="020F0502020204030204"/>
            </a:endParaRPr>
          </a:p>
          <a:p>
            <a:r>
              <a:rPr lang="en-US" dirty="0" err="1">
                <a:cs typeface="Calibri" panose="020F0502020204030204"/>
              </a:rPr>
              <a:t>Quy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trình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xây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dựng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hệ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thống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học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máy</a:t>
            </a:r>
            <a:r>
              <a:rPr lang="en-US" dirty="0">
                <a:cs typeface="Calibri" panose="020F0502020204030204"/>
              </a:rPr>
              <a:t>: Thu </a:t>
            </a:r>
            <a:r>
              <a:rPr lang="en-US" dirty="0" err="1">
                <a:cs typeface="Calibri" panose="020F0502020204030204"/>
              </a:rPr>
              <a:t>thập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dữ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liệu</a:t>
            </a:r>
            <a:r>
              <a:rPr lang="en-US" dirty="0">
                <a:cs typeface="Calibri" panose="020F0502020204030204"/>
              </a:rPr>
              <a:t>, </a:t>
            </a:r>
            <a:r>
              <a:rPr lang="en-US" dirty="0" err="1">
                <a:cs typeface="Calibri" panose="020F0502020204030204"/>
              </a:rPr>
              <a:t>tiền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xử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lý</a:t>
            </a:r>
            <a:r>
              <a:rPr lang="en-US" dirty="0">
                <a:cs typeface="Calibri" panose="020F0502020204030204"/>
              </a:rPr>
              <a:t>, </a:t>
            </a:r>
            <a:r>
              <a:rPr lang="en-US" dirty="0" err="1">
                <a:cs typeface="Calibri" panose="020F0502020204030204"/>
              </a:rPr>
              <a:t>xây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dựng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mô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hình</a:t>
            </a:r>
            <a:r>
              <a:rPr lang="en-US" dirty="0">
                <a:cs typeface="Calibri" panose="020F0502020204030204"/>
              </a:rPr>
              <a:t>, </a:t>
            </a:r>
            <a:r>
              <a:rPr lang="en-US" dirty="0" err="1">
                <a:cs typeface="Calibri" panose="020F0502020204030204"/>
              </a:rPr>
              <a:t>lựa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chọn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tham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số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và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đánh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giá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mô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hình</a:t>
            </a:r>
            <a:r>
              <a:rPr lang="en-US" dirty="0">
                <a:cs typeface="Calibri" panose="020F0502020204030204"/>
              </a:rPr>
              <a:t>, </a:t>
            </a:r>
            <a:r>
              <a:rPr lang="en-US" dirty="0" err="1">
                <a:cs typeface="Calibri" panose="020F0502020204030204"/>
              </a:rPr>
              <a:t>ứng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dụng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thực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tế</a:t>
            </a:r>
            <a:endParaRPr lang="en-US" dirty="0">
              <a:cs typeface="Calibri" panose="020F0502020204030204"/>
            </a:endParaRPr>
          </a:p>
          <a:p>
            <a:r>
              <a:rPr lang="en-US" dirty="0" err="1">
                <a:cs typeface="Calibri" panose="020F0502020204030204"/>
              </a:rPr>
              <a:t>Vấn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đề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khi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tiến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hành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thu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thập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dữ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liệu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dùng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cho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bài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toán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khai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phá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dữ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liệu</a:t>
            </a:r>
            <a:r>
              <a:rPr lang="en-US" dirty="0">
                <a:cs typeface="Calibri" panose="020F0502020204030204"/>
              </a:rPr>
              <a:t>/</a:t>
            </a:r>
            <a:r>
              <a:rPr lang="en-US" dirty="0" err="1">
                <a:cs typeface="Calibri" panose="020F0502020204030204"/>
              </a:rPr>
              <a:t>học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 err="1">
                <a:cs typeface="Calibri" panose="020F0502020204030204"/>
              </a:rPr>
              <a:t>máy</a:t>
            </a:r>
            <a:r>
              <a:rPr lang="en-US" dirty="0">
                <a:cs typeface="Calibri" panose="020F0502020204030204"/>
              </a:rPr>
              <a:t>.</a:t>
            </a:r>
          </a:p>
          <a:p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Cần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theo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các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bước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của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quy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trình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thu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thập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và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tiền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xử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lý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dữ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liệu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.</a:t>
            </a:r>
          </a:p>
          <a:p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Cần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hiểu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ý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nghĩa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trong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từng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bước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của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quy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 </a:t>
            </a:r>
            <a:r>
              <a:rPr lang="en-US" dirty="0" err="1">
                <a:solidFill>
                  <a:srgbClr val="000000"/>
                </a:solidFill>
                <a:cs typeface="Calibri" panose="020F0502020204030204"/>
              </a:rPr>
              <a:t>trình</a:t>
            </a:r>
            <a:r>
              <a:rPr lang="en-US" dirty="0">
                <a:solidFill>
                  <a:srgbClr val="000000"/>
                </a:solidFill>
                <a:cs typeface="Calibri" panose="020F0502020204030204"/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cs typeface="Calibri" panose="020F0502020204030204"/>
            </a:endParaRPr>
          </a:p>
          <a:p>
            <a:endParaRPr lang="en-US" dirty="0">
              <a:ea typeface="等线"/>
              <a:cs typeface="Calibri"/>
            </a:endParaRPr>
          </a:p>
          <a:p>
            <a:pPr lvl="2"/>
            <a:endParaRPr lang="en-US" dirty="0">
              <a:ea typeface="等线"/>
              <a:cs typeface="Calibri"/>
            </a:endParaRPr>
          </a:p>
          <a:p>
            <a:pPr lvl="1"/>
            <a:endParaRPr lang="en-US" dirty="0">
              <a:ea typeface="等线"/>
              <a:cs typeface="Calibri"/>
            </a:endParaRPr>
          </a:p>
          <a:p>
            <a:pPr marL="228600" lvl="1" indent="0">
              <a:buNone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pPr lvl="1" indent="-457200">
              <a:buAutoNum type="arabicPeriod"/>
            </a:pPr>
            <a:endParaRPr lang="en-US" dirty="0">
              <a:ea typeface="等线"/>
              <a:cs typeface="Calibri"/>
            </a:endParaRPr>
          </a:p>
          <a:p>
            <a:endParaRPr lang="en-US" altLang="zh-CN" dirty="0"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5216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3096B3D-C2D5-4D95-A93F-A7C0D9AAC94B}"/>
              </a:ext>
            </a:extLst>
          </p:cNvPr>
          <p:cNvSpPr txBox="1"/>
          <p:nvPr/>
        </p:nvSpPr>
        <p:spPr>
          <a:xfrm>
            <a:off x="432033" y="2290085"/>
            <a:ext cx="19588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800" b="1" i="0" u="none" strike="noStrike">
                <a:solidFill>
                  <a:srgbClr val="FFFFFF"/>
                </a:solidFill>
                <a:effectLst/>
                <a:latin typeface="Linh AvantGarde" panose="02000603030000020004"/>
              </a:rPr>
              <a:t>Thank you for</a:t>
            </a:r>
            <a:r>
              <a:rPr lang="en-US" sz="2800" b="0" i="0">
                <a:solidFill>
                  <a:srgbClr val="000000"/>
                </a:solidFill>
                <a:effectLst/>
                <a:latin typeface="Linh AvantGarde" panose="02000603030000020004"/>
              </a:rPr>
              <a:t>​</a:t>
            </a:r>
            <a:r>
              <a:rPr lang="vi-VN" sz="2800" b="0" i="0">
                <a:solidFill>
                  <a:srgbClr val="000000"/>
                </a:solidFill>
                <a:effectLst/>
                <a:latin typeface="Linh AvantGarde" panose="02000603030000020004"/>
              </a:rPr>
              <a:t> </a:t>
            </a:r>
            <a:r>
              <a:rPr lang="en-US" sz="2800" b="1" i="0" u="none" strike="noStrike">
                <a:solidFill>
                  <a:srgbClr val="FFFFFF"/>
                </a:solidFill>
                <a:effectLst/>
                <a:latin typeface="Linh AvantGarde" panose="02000603030000020004"/>
              </a:rPr>
              <a:t>your attentions</a:t>
            </a:r>
            <a:r>
              <a:rPr lang="en-US" sz="2800" b="1" i="0" u="none" strike="noStrike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!</a:t>
            </a:r>
            <a:r>
              <a:rPr lang="en-US" sz="2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8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580921"/>
      </p:ext>
    </p:extLst>
  </p:cSld>
  <p:clrMapOvr>
    <a:masterClrMapping/>
  </p:clrMapOvr>
</p:sld>
</file>

<file path=ppt/theme/theme1.xml><?xml version="1.0" encoding="utf-8"?>
<a:theme xmlns:a="http://schemas.openxmlformats.org/drawingml/2006/main" name="VIN_HUST 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VIN_HUST template</Template>
  <TotalTime>374</TotalTime>
  <Words>1456</Words>
  <Application>Microsoft Macintosh PowerPoint</Application>
  <PresentationFormat>On-screen Show (4:3)</PresentationFormat>
  <Paragraphs>215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Linh </vt:lpstr>
      <vt:lpstr>Linh AvantGarde</vt:lpstr>
      <vt:lpstr>Arial</vt:lpstr>
      <vt:lpstr>Calibri</vt:lpstr>
      <vt:lpstr>Courier New</vt:lpstr>
      <vt:lpstr>Roboto</vt:lpstr>
      <vt:lpstr>Segoe UI</vt:lpstr>
      <vt:lpstr>Tahoma</vt:lpstr>
      <vt:lpstr>Times New Roman</vt:lpstr>
      <vt:lpstr>VIN_HUST template</vt:lpstr>
      <vt:lpstr>Học máy cơ bản  Quy trình xây dựng hệ thống học máy   Ngô Văn Linh</vt:lpstr>
      <vt:lpstr>Nội dung môn học</vt:lpstr>
      <vt:lpstr>Mục lục</vt:lpstr>
      <vt:lpstr>1. Giới thiệu về Scikit-learn, Keras/Pytorch</vt:lpstr>
      <vt:lpstr>Giới thiệu thư viện Scikit-Learn</vt:lpstr>
      <vt:lpstr>Giới thiệu thư viện Scikit-Learn</vt:lpstr>
      <vt:lpstr>Cài đặt Sklearn</vt:lpstr>
      <vt:lpstr>Một số ví dụ </vt:lpstr>
      <vt:lpstr>Một số ví dụ </vt:lpstr>
      <vt:lpstr>Một số ví dụ </vt:lpstr>
      <vt:lpstr>Keras/Pytorch</vt:lpstr>
      <vt:lpstr>2. Quy trình xây dựng hệ thống học máy, khai phá dữ liệu</vt:lpstr>
      <vt:lpstr>Quy trình thực hiện: hướng sản phẩm</vt:lpstr>
      <vt:lpstr>3. Tiền xử lý dữ liệu</vt:lpstr>
      <vt:lpstr>ĐẶT VẤN ĐỀ</vt:lpstr>
      <vt:lpstr>ĐẶT VẤN ĐỀ</vt:lpstr>
      <vt:lpstr>ĐẶT VẤN ĐỀ</vt:lpstr>
      <vt:lpstr>ĐẶT VẤN ĐỀ</vt:lpstr>
      <vt:lpstr>ĐẶT VẤN ĐỀ</vt:lpstr>
      <vt:lpstr>MỤC LỤC</vt:lpstr>
      <vt:lpstr>LÀM SẠCH DỮ LIỆU</vt:lpstr>
      <vt:lpstr>LÀM SẠCH DỮ LIỆU</vt:lpstr>
      <vt:lpstr>LÀM SẠCH DỮ LIỆU</vt:lpstr>
      <vt:lpstr>LÀM SẠCH DỮ LIỆU</vt:lpstr>
      <vt:lpstr>MỤC LỤC</vt:lpstr>
      <vt:lpstr>TÍCH HỢP</vt:lpstr>
      <vt:lpstr>MỤC LỤC</vt:lpstr>
      <vt:lpstr>GIẢM CHIỀU</vt:lpstr>
      <vt:lpstr>GIẢM CHIỀU</vt:lpstr>
      <vt:lpstr>TỔNG KẾT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Pham Long Long</dc:creator>
  <cp:lastModifiedBy>Than Quang Khoat</cp:lastModifiedBy>
  <cp:revision>377</cp:revision>
  <dcterms:created xsi:type="dcterms:W3CDTF">2020-04-20T02:25:53Z</dcterms:created>
  <dcterms:modified xsi:type="dcterms:W3CDTF">2021-09-03T09:46:40Z</dcterms:modified>
</cp:coreProperties>
</file>